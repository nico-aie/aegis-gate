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6858000" cx="12192000"/>
  <p:notesSz cx="6858000" cy="12192000"/>
  <p:embeddedFontLst>
    <p:embeddedFont>
      <p:font typeface="Arial Black"/>
      <p:regular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jlh61FrjCc7Vm2h1++2DH29STD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font" Target="fonts/ArialBlack-regular.fntdata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8" name="Google Shape;46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9" name="Google Shape;48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0" name="Google Shape;61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1" name="Google Shape;65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2" name="Google Shape;69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9" name="Google Shape;729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5" name="Google Shape;85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2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4" name="Google Shape;974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5" name="Google Shape;975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1" name="Google Shape;100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2" name="Google Shape;100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2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Google Shape;1053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4" name="Google Shape;1054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 txBox="1"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PROJECT OBJECTIVES</a:t>
            </a:r>
            <a:endParaRPr/>
          </a:p>
        </p:txBody>
      </p:sp>
      <p:sp>
        <p:nvSpPr>
          <p:cNvPr id="17" name="Google Shape;17;p1"/>
          <p:cNvSpPr txBox="1"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Why we’re building Aegis-Gate</a:t>
            </a:r>
            <a:endParaRPr/>
          </a:p>
        </p:txBody>
      </p:sp>
      <p:sp>
        <p:nvSpPr>
          <p:cNvPr id="18" name="Google Shape;18;p1"/>
          <p:cNvSpPr txBox="1"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 real production WAF — and a vehicle to level up how we build software</a:t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cap="flat" cmpd="sng" w="12700">
            <a:solidFill>
              <a:srgbClr val="1F2937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FD5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 txBox="1"/>
          <p:nvPr/>
        </p:nvSpPr>
        <p:spPr>
          <a:xfrm>
            <a:off x="594360" y="1947672"/>
            <a:ext cx="3337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ENTERPRISE, NOT A HACKATHON</a:t>
            </a:r>
            <a:endParaRPr b="1"/>
          </a:p>
        </p:txBody>
      </p:sp>
      <p:sp>
        <p:nvSpPr>
          <p:cNvPr id="22" name="Google Shape;22;p1"/>
          <p:cNvSpPr txBox="1"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Real production-grade WAF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94360" y="3108960"/>
            <a:ext cx="3337500" cy="14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Build an enterprise, production-level WAF for our company.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Something we would actually run in prod — not a one-off demo.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Held to the same bar as F5 · Imperva · Akamai.</a:t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cap="flat" cmpd="sng" w="12700">
            <a:solidFill>
              <a:srgbClr val="1F2937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 txBox="1"/>
          <p:nvPr/>
        </p:nvSpPr>
        <p:spPr>
          <a:xfrm>
            <a:off x="4434840" y="1947672"/>
            <a:ext cx="3337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SHARPEN THE CRAFT</a:t>
            </a:r>
            <a:endParaRPr sz="1600"/>
          </a:p>
        </p:txBody>
      </p:sp>
      <p:sp>
        <p:nvSpPr>
          <p:cNvPr id="27" name="Google Shape;27;p1"/>
          <p:cNvSpPr txBox="1"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Practice &amp; improve our skills</a:t>
            </a:r>
            <a:endParaRPr/>
          </a:p>
        </p:txBody>
      </p:sp>
      <p:sp>
        <p:nvSpPr>
          <p:cNvPr id="28" name="Google Shape;28;p1"/>
          <p:cNvSpPr txBox="1"/>
          <p:nvPr/>
        </p:nvSpPr>
        <p:spPr>
          <a:xfrm>
            <a:off x="4434840" y="3108960"/>
            <a:ext cx="3337500" cy="14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Stretch across AI / ML, system design, and security.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Performance, distributed systems, and product thinking.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Deliberate reps on hard, real-world engineering.</a:t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cap="flat" cmpd="sng" w="12700">
            <a:solidFill>
              <a:srgbClr val="1F2937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 txBox="1"/>
          <p:nvPr/>
        </p:nvSpPr>
        <p:spPr>
          <a:xfrm>
            <a:off x="8275320" y="1947672"/>
            <a:ext cx="3337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AI-NATIVE SDLC</a:t>
            </a:r>
            <a:endParaRPr sz="1600"/>
          </a:p>
        </p:txBody>
      </p:sp>
      <p:sp>
        <p:nvSpPr>
          <p:cNvPr id="32" name="Google Shape;32;p1"/>
          <p:cNvSpPr txBox="1"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Software development with AI</a:t>
            </a:r>
            <a:endParaRPr/>
          </a:p>
        </p:txBody>
      </p:sp>
      <p:sp>
        <p:nvSpPr>
          <p:cNvPr id="33" name="Google Shape;33;p1"/>
          <p:cNvSpPr txBox="1"/>
          <p:nvPr/>
        </p:nvSpPr>
        <p:spPr>
          <a:xfrm>
            <a:off x="8275320" y="3108960"/>
            <a:ext cx="3337500" cy="12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Explore how we build software with AI in the loop.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Across the lifecycle: design → code → review → QA.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Establish a repeatable process we can reuse.</a:t>
            </a:r>
            <a:endParaRPr/>
          </a:p>
        </p:txBody>
      </p:sp>
      <p:sp>
        <p:nvSpPr>
          <p:cNvPr id="34" name="Google Shape;34;p1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/>
          </a:p>
        </p:txBody>
      </p:sp>
      <p:sp>
        <p:nvSpPr>
          <p:cNvPr id="35" name="Google Shape;35;p1"/>
          <p:cNvSpPr txBox="1"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 / 19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ENTERPRISE CONTROL PLANE  ·  v0.1.0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31520" y="2103120"/>
            <a:ext cx="1280160" cy="1280160"/>
          </a:xfrm>
          <a:prstGeom prst="roundRect">
            <a:avLst>
              <a:gd fmla="val 14286" name="adj"/>
            </a:avLst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731520" y="2103120"/>
            <a:ext cx="12801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8000"/>
              <a:buFont typeface="Arial Black"/>
              <a:buNone/>
            </a:pPr>
            <a:r>
              <a:rPr b="1" lang="en-US" sz="8000">
                <a:solidFill>
                  <a:srgbClr val="0B0F1A"/>
                </a:solidFill>
                <a:latin typeface="Arial Black"/>
                <a:ea typeface="Arial Black"/>
                <a:cs typeface="Arial Black"/>
                <a:sym typeface="Arial Black"/>
              </a:rPr>
              <a:t>A</a:t>
            </a:r>
            <a:endParaRPr sz="8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2240280" y="201168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6400"/>
              <a:buFont typeface="Arial Black"/>
              <a:buNone/>
            </a:pPr>
            <a:r>
              <a:rPr b="1" lang="en-US" sz="64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AEGIS-GATE</a:t>
            </a:r>
            <a:endParaRPr sz="6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2240280" y="29260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2200"/>
              <a:buFont typeface="Calibri"/>
              <a:buNone/>
            </a:pPr>
            <a:r>
              <a:rPr i="1" lang="en-US" sz="2200">
                <a:solidFill>
                  <a:srgbClr val="FFD541"/>
                </a:solidFill>
                <a:latin typeface="Calibri"/>
                <a:ea typeface="Calibri"/>
                <a:cs typeface="Calibri"/>
                <a:sym typeface="Calibri"/>
              </a:rPr>
              <a:t>Web Application Firewall  ·  Security Gateway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731520" y="5029200"/>
            <a:ext cx="3200400" cy="11887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731520" y="5166360"/>
            <a:ext cx="3200400" cy="6537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FFD541"/>
                </a:solidFill>
                <a:latin typeface="Arial Black"/>
                <a:ea typeface="Arial Black"/>
                <a:cs typeface="Arial Black"/>
                <a:sym typeface="Arial Black"/>
              </a:rPr>
              <a:t>4,891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868680" y="571500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RPS sustained (k6, p99 1.03 ms)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4206240" y="5029200"/>
            <a:ext cx="3200400" cy="11887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4206240" y="5166360"/>
            <a:ext cx="3200400" cy="6537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34D399"/>
                </a:solidFill>
                <a:latin typeface="Arial Black"/>
                <a:ea typeface="Arial Black"/>
                <a:cs typeface="Arial Black"/>
                <a:sym typeface="Arial Black"/>
              </a:rPr>
              <a:t>0.5 ms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343400" y="571500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AI verdict  ·  Rust p99  ·  ONNX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7680960" y="5029200"/>
            <a:ext cx="3200400" cy="11887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7680960" y="5166360"/>
            <a:ext cx="3200400" cy="6537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60A5FA"/>
                </a:solidFill>
                <a:latin typeface="Arial Black"/>
                <a:ea typeface="Arial Black"/>
                <a:cs typeface="Arial Black"/>
                <a:sym typeface="Arial Black"/>
              </a:rPr>
              <a:t>18+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7818120" y="571500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dashboard pages  ·  REST + SSE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WHY AEGIS-GATE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Enterprise WAF capability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Fintech · healthcare · public sector deployments that need real control, not a black box.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594360" y="1947672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THE INCUMBENT TAX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F5 · Imperva · Akamai Kona · Cloudflare Enterprise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594360" y="3108960"/>
            <a:ext cx="333756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Per-RPS pricing, opaque rule sets, slow custom-rule loops.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Cloud-only — limited self-host, no air-gap deploy.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Vendor-controlled detection model &amp; threat intel.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Audit trail behind a UI, not hash-chained on disk.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4434840" y="1947672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THE AEGIS APPROACH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Single Rust binary  ·  own the data plane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4434840" y="3108960"/>
            <a:ext cx="333756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Hot-reload routes, detectors, certs, rate-limits — no restart.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Hash-chained NDJSON audit, witness export, CLI verifier.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OWASP + custom rules + optional ONNX AI verdict (your model).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Distroless image, fd-passing hot-restart, K8s/Helm-ready.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8275320" y="1947672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WHO SHIPS WITH IT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SOC teams that need a real audit chain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8275320" y="3108960"/>
            <a:ext cx="333756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Fintech — PCI / SOC 2 / FIPS workloads, mTLS upstreams.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Healthcare — HIPAA, DLP inbound + outbound, audit witness.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Public sector — air-gap deploy, no third-party cloud calls.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Platform teams — multi-vhost upstreams, GitOps config source.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AT A GLANCE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What ships in v0.1.0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Measured on a `prod-balanced` profile, laptop hardware, k6 driver.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365760" y="1920240"/>
            <a:ext cx="278892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365760" y="2057400"/>
            <a:ext cx="278892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FFD541"/>
                </a:solidFill>
                <a:latin typeface="Arial Black"/>
                <a:ea typeface="Arial Black"/>
                <a:cs typeface="Arial Black"/>
                <a:sym typeface="Arial Black"/>
              </a:rPr>
              <a:t>4,891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502920" y="269748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RPS sustained  ·  k6 driver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3291840" y="1920240"/>
            <a:ext cx="278892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3291840" y="2057400"/>
            <a:ext cx="278892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34D399"/>
                </a:solidFill>
                <a:latin typeface="Arial Black"/>
                <a:ea typeface="Arial Black"/>
                <a:cs typeface="Arial Black"/>
                <a:sym typeface="Arial Black"/>
              </a:rPr>
              <a:t>0.5 ms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3429000" y="269748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AI verdict p99  ·  Rust  ·  batch=1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6217920" y="1920240"/>
            <a:ext cx="278892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6217920" y="2057400"/>
            <a:ext cx="278892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34D399"/>
                </a:solidFill>
                <a:latin typeface="Arial Black"/>
                <a:ea typeface="Arial Black"/>
                <a:cs typeface="Arial Black"/>
                <a:sym typeface="Arial Black"/>
              </a:rPr>
              <a:t>94.3%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6355080" y="269748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AI multi-class accuracy  ·  11 classes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9144000" y="1920240"/>
            <a:ext cx="278892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9144000" y="2057400"/>
            <a:ext cx="278892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FFD541"/>
                </a:solidFill>
                <a:latin typeface="Arial Black"/>
                <a:ea typeface="Arial Black"/>
                <a:cs typeface="Arial Black"/>
                <a:sym typeface="Arial Black"/>
              </a:rPr>
              <a:t>21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9281160" y="269748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attack classes in v1 corpus  ·  11 + 10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365760" y="3337560"/>
            <a:ext cx="278892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365760" y="3474720"/>
            <a:ext cx="278892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60A5FA"/>
                </a:solidFill>
                <a:latin typeface="Arial Black"/>
                <a:ea typeface="Arial Black"/>
                <a:cs typeface="Arial Black"/>
                <a:sym typeface="Arial Black"/>
              </a:rPr>
              <a:t>2.3 M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502920" y="411480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training samples  ·  8 sources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3291840" y="3337560"/>
            <a:ext cx="278892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3291840" y="3474720"/>
            <a:ext cx="278892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60A5FA"/>
                </a:solidFill>
                <a:latin typeface="Arial Black"/>
                <a:ea typeface="Arial Black"/>
                <a:cs typeface="Arial Black"/>
                <a:sym typeface="Arial Black"/>
              </a:rPr>
              <a:t>18+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429000" y="411480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dashboard pages  ·  React 18 SPA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6217920" y="3337560"/>
            <a:ext cx="278892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6217920" y="3474720"/>
            <a:ext cx="278892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~70 MB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6355080" y="411480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release binary  ·  distroless image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9144000" y="3337560"/>
            <a:ext cx="278892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9144000" y="3474720"/>
            <a:ext cx="278892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6×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9281160" y="411480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config surfaces hot-reload  ·  no restart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365760" y="4937760"/>
            <a:ext cx="54864" cy="128016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594360" y="50292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FEATURE FLAGS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594360" y="52852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Default build:  redis · geoip · alerts · ai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taxii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http3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etcd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otel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vault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aws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gcp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azure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consul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k8s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affinity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4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ARCHITECTURE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Request flow  ·  data plane + control plane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Data plane and control plane share nothing on the hot path except an ArcSwap&lt;Config&gt;.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548640" y="1828800"/>
            <a:ext cx="3291840" cy="411480"/>
          </a:xfrm>
          <a:prstGeom prst="roundRect">
            <a:avLst>
              <a:gd fmla="val 13333" name="adj"/>
            </a:avLst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548640" y="1828800"/>
            <a:ext cx="73152" cy="41148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713232" y="1847088"/>
            <a:ext cx="3063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Arial Black"/>
              <a:buNone/>
            </a:pPr>
            <a:r>
              <a:rPr b="1" lang="en-US" sz="10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Worker Supervisor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713232" y="2034540"/>
            <a:ext cx="3063240" cy="185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SO_REUSEPORT · tokio · graceful drain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9" name="Google Shape;159;p5"/>
          <p:cNvCxnSpPr/>
          <p:nvPr/>
        </p:nvCxnSpPr>
        <p:spPr>
          <a:xfrm>
            <a:off x="2194560" y="2240280"/>
            <a:ext cx="0" cy="9144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0" name="Google Shape;160;p5"/>
          <p:cNvSpPr/>
          <p:nvPr/>
        </p:nvSpPr>
        <p:spPr>
          <a:xfrm>
            <a:off x="548640" y="2331720"/>
            <a:ext cx="3291840" cy="411480"/>
          </a:xfrm>
          <a:prstGeom prst="roundRect">
            <a:avLst>
              <a:gd fmla="val 13333" name="adj"/>
            </a:avLst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548640" y="2331720"/>
            <a:ext cx="73152" cy="41148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713232" y="2350008"/>
            <a:ext cx="3063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Arial Black"/>
              <a:buNone/>
            </a:pPr>
            <a:r>
              <a:rPr b="1" lang="en-US" sz="10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TLS / SNI / ACME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713232" y="2537460"/>
            <a:ext cx="3063240" cy="185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rustls 0.23  ·  OCSP staple  ·  hot swap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4" name="Google Shape;164;p5"/>
          <p:cNvCxnSpPr/>
          <p:nvPr/>
        </p:nvCxnSpPr>
        <p:spPr>
          <a:xfrm>
            <a:off x="2194560" y="2743200"/>
            <a:ext cx="0" cy="9144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5" name="Google Shape;165;p5"/>
          <p:cNvSpPr/>
          <p:nvPr/>
        </p:nvSpPr>
        <p:spPr>
          <a:xfrm>
            <a:off x="548640" y="2834640"/>
            <a:ext cx="3291840" cy="411480"/>
          </a:xfrm>
          <a:prstGeom prst="roundRect">
            <a:avLst>
              <a:gd fmla="val 13333" name="adj"/>
            </a:avLst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548640" y="2834640"/>
            <a:ext cx="73152" cy="41148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713232" y="2852928"/>
            <a:ext cx="3063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Arial Black"/>
              <a:buNone/>
            </a:pPr>
            <a:r>
              <a:rPr b="1" lang="en-US" sz="10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Protocol Layer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713232" y="3040380"/>
            <a:ext cx="3063240" cy="185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h1 / h2 / h3 · WS · gRPC · TCP CONNECT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9" name="Google Shape;169;p5"/>
          <p:cNvCxnSpPr/>
          <p:nvPr/>
        </p:nvCxnSpPr>
        <p:spPr>
          <a:xfrm>
            <a:off x="2194560" y="3246120"/>
            <a:ext cx="0" cy="9144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70" name="Google Shape;170;p5"/>
          <p:cNvSpPr/>
          <p:nvPr/>
        </p:nvSpPr>
        <p:spPr>
          <a:xfrm>
            <a:off x="548640" y="3337560"/>
            <a:ext cx="3291840" cy="411480"/>
          </a:xfrm>
          <a:prstGeom prst="roundRect">
            <a:avLst>
              <a:gd fmla="val 13333" name="adj"/>
            </a:avLst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548640" y="3337560"/>
            <a:ext cx="73152" cy="41148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13232" y="3355848"/>
            <a:ext cx="3063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Arial Black"/>
              <a:buNone/>
            </a:pPr>
            <a:r>
              <a:rPr b="1" lang="en-US" sz="10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Admission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713232" y="3543300"/>
            <a:ext cx="3063240" cy="185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adaptive concurrency  ·  priority queue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4" name="Google Shape;174;p5"/>
          <p:cNvCxnSpPr/>
          <p:nvPr/>
        </p:nvCxnSpPr>
        <p:spPr>
          <a:xfrm>
            <a:off x="2194560" y="3749040"/>
            <a:ext cx="0" cy="9144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75" name="Google Shape;175;p5"/>
          <p:cNvSpPr/>
          <p:nvPr/>
        </p:nvSpPr>
        <p:spPr>
          <a:xfrm>
            <a:off x="548640" y="3840480"/>
            <a:ext cx="3291840" cy="411480"/>
          </a:xfrm>
          <a:prstGeom prst="roundRect">
            <a:avLst>
              <a:gd fmla="val 13333" name="adj"/>
            </a:avLst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5"/>
          <p:cNvSpPr/>
          <p:nvPr/>
        </p:nvSpPr>
        <p:spPr>
          <a:xfrm>
            <a:off x="548640" y="3840480"/>
            <a:ext cx="73152" cy="41148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713232" y="3858768"/>
            <a:ext cx="3063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Arial Black"/>
              <a:buNone/>
            </a:pPr>
            <a:r>
              <a:rPr b="1" lang="en-US" sz="10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Route Table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"/>
          <p:cNvSpPr/>
          <p:nvPr/>
        </p:nvSpPr>
        <p:spPr>
          <a:xfrm>
            <a:off x="713232" y="4046220"/>
            <a:ext cx="3063240" cy="185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host + path trie + regex  ·  audit-mutated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" name="Google Shape;179;p5"/>
          <p:cNvCxnSpPr/>
          <p:nvPr/>
        </p:nvCxnSpPr>
        <p:spPr>
          <a:xfrm>
            <a:off x="2194560" y="4251960"/>
            <a:ext cx="0" cy="9144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80" name="Google Shape;180;p5"/>
          <p:cNvSpPr/>
          <p:nvPr/>
        </p:nvSpPr>
        <p:spPr>
          <a:xfrm>
            <a:off x="548640" y="4343400"/>
            <a:ext cx="3291840" cy="411480"/>
          </a:xfrm>
          <a:prstGeom prst="roundRect">
            <a:avLst>
              <a:gd fmla="val 13333" name="adj"/>
            </a:avLst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548640" y="4343400"/>
            <a:ext cx="73152" cy="41148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713232" y="4361688"/>
            <a:ext cx="3063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Arial Black"/>
              <a:buNone/>
            </a:pPr>
            <a:r>
              <a:rPr b="1" lang="en-US" sz="10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Security Pipeline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713232" y="4549140"/>
            <a:ext cx="3063240" cy="185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tiered detectors  ·  rate-limit  ·  DDoS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4" name="Google Shape;184;p5"/>
          <p:cNvCxnSpPr/>
          <p:nvPr/>
        </p:nvCxnSpPr>
        <p:spPr>
          <a:xfrm>
            <a:off x="2194560" y="4754880"/>
            <a:ext cx="0" cy="9144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85" name="Google Shape;185;p5"/>
          <p:cNvSpPr/>
          <p:nvPr/>
        </p:nvSpPr>
        <p:spPr>
          <a:xfrm>
            <a:off x="548640" y="4846320"/>
            <a:ext cx="3291840" cy="411480"/>
          </a:xfrm>
          <a:prstGeom prst="roundRect">
            <a:avLst>
              <a:gd fmla="val 13333" name="adj"/>
            </a:avLst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548640" y="4846320"/>
            <a:ext cx="73152" cy="41148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713232" y="4864608"/>
            <a:ext cx="3063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Arial Black"/>
              <a:buNone/>
            </a:pPr>
            <a:r>
              <a:rPr b="1" lang="en-US" sz="10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Upstream Pools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713232" y="5052060"/>
            <a:ext cx="3063240" cy="185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5 LB strategies  ·  health  ·  circuit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9" name="Google Shape;189;p5"/>
          <p:cNvCxnSpPr/>
          <p:nvPr/>
        </p:nvCxnSpPr>
        <p:spPr>
          <a:xfrm>
            <a:off x="2194560" y="5257800"/>
            <a:ext cx="0" cy="9144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90" name="Google Shape;190;p5"/>
          <p:cNvSpPr/>
          <p:nvPr/>
        </p:nvSpPr>
        <p:spPr>
          <a:xfrm>
            <a:off x="548640" y="5349240"/>
            <a:ext cx="3291840" cy="411480"/>
          </a:xfrm>
          <a:prstGeom prst="roundRect">
            <a:avLst>
              <a:gd fmla="val 13333" name="adj"/>
            </a:avLst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548640" y="5349240"/>
            <a:ext cx="73152" cy="41148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713232" y="5367528"/>
            <a:ext cx="3063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Arial Black"/>
              <a:buNone/>
            </a:pPr>
            <a:r>
              <a:rPr b="1" lang="en-US" sz="10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Response Filter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713232" y="5554980"/>
            <a:ext cx="3063240" cy="185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header hardening  ·  DLP outbound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548640" y="15087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urier New"/>
              <a:buNone/>
            </a:pPr>
            <a:r>
              <a:rPr i="1" lang="en-US" sz="10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Internet  ▼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548640" y="58521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urier New"/>
              <a:buNone/>
            </a:pPr>
            <a:r>
              <a:rPr i="1" lang="en-US" sz="10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▼  Backend pools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4572000" y="1783080"/>
            <a:ext cx="7040880" cy="18288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4572000" y="1783080"/>
            <a:ext cx="54864" cy="18288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4754880" y="1874520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CONTROL PLANE  (loopback)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4754880" y="2121408"/>
            <a:ext cx="6766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Aegis WAF Console  ·  React 18 SPA  ·  /dashboard/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4754880" y="2514600"/>
            <a:ext cx="6675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6195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Auth: IP-allow → mTLS → argon2id → TOTP → HMAC session → CSRF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Audit-mutated CRUD: every config change hash-chained, hot-swapped, no restart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REST + SSE  ·  /metrics  ·  /healthz/{live,ready}  ·  per-page error boundary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4572000" y="3840480"/>
            <a:ext cx="2255520" cy="9601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4572000" y="3840480"/>
            <a:ext cx="54864" cy="96012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4709160" y="3931920"/>
            <a:ext cx="2026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Arial Black"/>
              <a:buNone/>
            </a:pPr>
            <a:r>
              <a:rPr b="1" lang="en-US" sz="11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Audit chain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4709160" y="4224528"/>
            <a:ext cx="2026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SHA-256 NDJSON · 8 SIEM sinks · CLI verifier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6964680" y="3840480"/>
            <a:ext cx="2255520" cy="9601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6964680" y="3840480"/>
            <a:ext cx="54864" cy="960120"/>
          </a:xfrm>
          <a:prstGeom prst="rect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7101840" y="3931920"/>
            <a:ext cx="2026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Arial Black"/>
              <a:buNone/>
            </a:pPr>
            <a:r>
              <a:rPr b="1" lang="en-US" sz="11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State backend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7101840" y="4224528"/>
            <a:ext cx="2026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in-mem · Redis (counters · leases · blocks)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9357360" y="3840480"/>
            <a:ext cx="2255520" cy="9601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9357360" y="3840480"/>
            <a:ext cx="54864" cy="96012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9494520" y="3931920"/>
            <a:ext cx="2026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Arial Black"/>
              <a:buNone/>
            </a:pPr>
            <a:r>
              <a:rPr b="1" lang="en-US" sz="11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Threat intel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9494520" y="4224528"/>
            <a:ext cx="2026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STIX/TAXII · MaxMind GeoIP · live feed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4572000" y="4937760"/>
            <a:ext cx="2255520" cy="9601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4572000" y="4937760"/>
            <a:ext cx="54864" cy="96012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/>
          <p:nvPr/>
        </p:nvSpPr>
        <p:spPr>
          <a:xfrm>
            <a:off x="4709160" y="5029200"/>
            <a:ext cx="2026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Arial Black"/>
              <a:buNone/>
            </a:pPr>
            <a:r>
              <a:rPr b="1" lang="en-US" sz="11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Hot reload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4709160" y="5321808"/>
            <a:ext cx="2026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notify watcher ~100 ms · etcd poll ~5 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6964680" y="4937760"/>
            <a:ext cx="2255520" cy="9601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6964680" y="4937760"/>
            <a:ext cx="54864" cy="960120"/>
          </a:xfrm>
          <a:prstGeom prst="rect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7101840" y="5029200"/>
            <a:ext cx="2026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Arial Black"/>
              <a:buNone/>
            </a:pPr>
            <a:r>
              <a:rPr b="1" lang="en-US" sz="11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Observability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7101840" y="5321808"/>
            <a:ext cx="2026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Prometheus · OTLP gRPC · Jaeger spans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9357360" y="4937760"/>
            <a:ext cx="2255520" cy="9601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9357360" y="4937760"/>
            <a:ext cx="54864" cy="96012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9494520" y="5029200"/>
            <a:ext cx="2026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Arial Black"/>
              <a:buNone/>
            </a:pPr>
            <a:r>
              <a:rPr b="1" lang="en-US" sz="11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Secrets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9494520" y="5321808"/>
            <a:ext cx="2026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env · Vault · AWS · GCP · Azure resolvers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5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DATA PLANE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Reverse proxy + protocol fan-out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Single Rust binary on tokio, hyper 1.x, rustls. Hot-swap routes &amp; upstreams from YAML, etcd, or the dashboard.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365760" y="1828800"/>
            <a:ext cx="5669280" cy="21945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365760" y="1828800"/>
            <a:ext cx="54864" cy="219456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594360" y="1965960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PROTOCOLS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6"/>
          <p:cNvSpPr/>
          <p:nvPr/>
        </p:nvSpPr>
        <p:spPr>
          <a:xfrm>
            <a:off x="594360" y="2267712"/>
            <a:ext cx="5303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HTTP/1.1 · HTTP/2 · WS · gRPC · TCP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594360" y="2697480"/>
            <a:ext cx="53035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ALPN-driven auto upgrade. WebSocket bridge auto-detected on http/https/auto schemes. Raw TCP tunnel via CONNECT.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6"/>
          <p:cNvSpPr/>
          <p:nvPr/>
        </p:nvSpPr>
        <p:spPr>
          <a:xfrm>
            <a:off x="6172200" y="1828800"/>
            <a:ext cx="5669280" cy="21945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6172200" y="1828800"/>
            <a:ext cx="54864" cy="2194560"/>
          </a:xfrm>
          <a:prstGeom prst="rect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6"/>
          <p:cNvSpPr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ROUTING &amp; UPSTREAMS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6400800" y="2267712"/>
            <a:ext cx="5303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Host + path trie  ·  5 LB strategies  ·  smart cache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6"/>
          <p:cNvSpPr/>
          <p:nvPr/>
        </p:nvSpPr>
        <p:spPr>
          <a:xfrm>
            <a:off x="6400800" y="2697480"/>
            <a:ext cx="53035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round_robin · weighted · least_conn · consistent_hash · p2c · per-member SNI pinning.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NEW — Smart cache: L1 in-process per-node response cache; repeat GET/HEAD from memory;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never caches CRITICAL tier; per-pool path-prefix rules; Redis L2 tier planned.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/>
          <p:nvPr/>
        </p:nvSpPr>
        <p:spPr>
          <a:xfrm>
            <a:off x="365760" y="4160520"/>
            <a:ext cx="5669280" cy="21945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365760" y="4160520"/>
            <a:ext cx="54864" cy="219456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594360" y="4297680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TLS / mTLS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6"/>
          <p:cNvSpPr/>
          <p:nvPr/>
        </p:nvSpPr>
        <p:spPr>
          <a:xfrm>
            <a:off x="594360" y="4599432"/>
            <a:ext cx="5303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rustls 0.23  ·  ACME  ·  upstream mTLS  ·  Zero Trust (beta)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6"/>
          <p:cNvSpPr/>
          <p:nvPr/>
        </p:nvSpPr>
        <p:spPr>
          <a:xfrm>
            <a:off x="594360" y="5029200"/>
            <a:ext cx="53035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Hot-reloadable cert store · client-cert mTLS w/ SAN allow-list · ACME issue + renew.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NEW — Zero Trust: mutual TLS from the WAF to each backend pool. The WAF presents 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downloadable, rotatable client identity; pin/upload a per-pool backend cert, toggle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mTLS per pool, and track handshake failures by reason.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6"/>
          <p:cNvSpPr/>
          <p:nvPr/>
        </p:nvSpPr>
        <p:spPr>
          <a:xfrm>
            <a:off x="6172200" y="4160520"/>
            <a:ext cx="5669280" cy="21945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6172200" y="4160520"/>
            <a:ext cx="54864" cy="219456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6"/>
          <p:cNvSpPr/>
          <p:nvPr/>
        </p:nvSpPr>
        <p:spPr>
          <a:xfrm>
            <a:off x="6400800" y="4297680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PERFORMANCE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6"/>
          <p:cNvSpPr/>
          <p:nvPr/>
        </p:nvSpPr>
        <p:spPr>
          <a:xfrm>
            <a:off x="6400800" y="4599432"/>
            <a:ext cx="5303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4,891 RPS sustained  ·  p99 1.03 ms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6"/>
          <p:cNvSpPr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37,600 req/s baseline, median 60 µs. Adaptive concurrency admission control with priority queue — CRITICAL tier is never shed. Binary handover via fd-passing (`kill -USR2`) for hot-restarts with no dropped connections.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6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6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7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SECURITY PIPELINE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Tiered detector chain  ·  per-class hot toggles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Every request flows through ordered stages — earliest cheap filters, latest AI verdict. Per-tier risk thresholds.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65760" y="1828800"/>
            <a:ext cx="1360170" cy="640080"/>
          </a:xfrm>
          <a:prstGeom prst="roundRect">
            <a:avLst>
              <a:gd fmla="val 8571" name="adj"/>
            </a:avLst>
          </a:prstGeom>
          <a:solidFill>
            <a:srgbClr val="151B2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65760" y="1828800"/>
            <a:ext cx="136017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Traffic Gates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1725930" y="2148840"/>
            <a:ext cx="73152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0" name="Google Shape;270;p7"/>
          <p:cNvSpPr/>
          <p:nvPr/>
        </p:nvSpPr>
        <p:spPr>
          <a:xfrm>
            <a:off x="1799082" y="1828800"/>
            <a:ext cx="1360170" cy="640080"/>
          </a:xfrm>
          <a:prstGeom prst="roundRect">
            <a:avLst>
              <a:gd fmla="val 8571" name="adj"/>
            </a:avLst>
          </a:prstGeom>
          <a:solidFill>
            <a:srgbClr val="151B27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1799082" y="1828800"/>
            <a:ext cx="136017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Fingerprint JA4 / h2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2" name="Google Shape;272;p7"/>
          <p:cNvCxnSpPr/>
          <p:nvPr/>
        </p:nvCxnSpPr>
        <p:spPr>
          <a:xfrm>
            <a:off x="3159252" y="2148840"/>
            <a:ext cx="73152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3" name="Google Shape;273;p7"/>
          <p:cNvSpPr/>
          <p:nvPr/>
        </p:nvSpPr>
        <p:spPr>
          <a:xfrm>
            <a:off x="3232404" y="1828800"/>
            <a:ext cx="1360170" cy="640080"/>
          </a:xfrm>
          <a:prstGeom prst="roundRect">
            <a:avLst>
              <a:gd fmla="val 8571" name="adj"/>
            </a:avLst>
          </a:prstGeom>
          <a:solidFill>
            <a:srgbClr val="151B27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3232404" y="1828800"/>
            <a:ext cx="136017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OWASP detectors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5" name="Google Shape;275;p7"/>
          <p:cNvCxnSpPr/>
          <p:nvPr/>
        </p:nvCxnSpPr>
        <p:spPr>
          <a:xfrm>
            <a:off x="4592574" y="2148840"/>
            <a:ext cx="73152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6" name="Google Shape;276;p7"/>
          <p:cNvSpPr/>
          <p:nvPr/>
        </p:nvSpPr>
        <p:spPr>
          <a:xfrm>
            <a:off x="4665726" y="1828800"/>
            <a:ext cx="1360170" cy="640080"/>
          </a:xfrm>
          <a:prstGeom prst="roundRect">
            <a:avLst>
              <a:gd fmla="val 8571" name="adj"/>
            </a:avLst>
          </a:prstGeom>
          <a:solidFill>
            <a:srgbClr val="151B27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4665726" y="1828800"/>
            <a:ext cx="136017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AI classifier (ONNX)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8" name="Google Shape;278;p7"/>
          <p:cNvCxnSpPr/>
          <p:nvPr/>
        </p:nvCxnSpPr>
        <p:spPr>
          <a:xfrm>
            <a:off x="6025896" y="2148840"/>
            <a:ext cx="73152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9" name="Google Shape;279;p7"/>
          <p:cNvSpPr/>
          <p:nvPr/>
        </p:nvSpPr>
        <p:spPr>
          <a:xfrm>
            <a:off x="6099048" y="1828800"/>
            <a:ext cx="1360170" cy="640080"/>
          </a:xfrm>
          <a:prstGeom prst="roundRect">
            <a:avLst>
              <a:gd fmla="val 8571" name="adj"/>
            </a:avLst>
          </a:prstGeom>
          <a:solidFill>
            <a:srgbClr val="151B27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099048" y="1828800"/>
            <a:ext cx="136017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Bot classifier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1" name="Google Shape;281;p7"/>
          <p:cNvCxnSpPr/>
          <p:nvPr/>
        </p:nvCxnSpPr>
        <p:spPr>
          <a:xfrm>
            <a:off x="7459218" y="2148840"/>
            <a:ext cx="73152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2" name="Google Shape;282;p7"/>
          <p:cNvSpPr/>
          <p:nvPr/>
        </p:nvSpPr>
        <p:spPr>
          <a:xfrm>
            <a:off x="7532370" y="1828800"/>
            <a:ext cx="1360170" cy="640080"/>
          </a:xfrm>
          <a:prstGeom prst="roundRect">
            <a:avLst>
              <a:gd fmla="val 8571" name="adj"/>
            </a:avLst>
          </a:prstGeom>
          <a:solidFill>
            <a:srgbClr val="151B27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7532370" y="1828800"/>
            <a:ext cx="136017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API guard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4" name="Google Shape;284;p7"/>
          <p:cNvCxnSpPr/>
          <p:nvPr/>
        </p:nvCxnSpPr>
        <p:spPr>
          <a:xfrm>
            <a:off x="8892540" y="2148840"/>
            <a:ext cx="73152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5" name="Google Shape;285;p7"/>
          <p:cNvSpPr/>
          <p:nvPr/>
        </p:nvSpPr>
        <p:spPr>
          <a:xfrm>
            <a:off x="8965692" y="1828800"/>
            <a:ext cx="1360170" cy="640080"/>
          </a:xfrm>
          <a:prstGeom prst="roundRect">
            <a:avLst>
              <a:gd fmla="val 8571" name="adj"/>
            </a:avLst>
          </a:prstGeom>
          <a:solidFill>
            <a:srgbClr val="151B2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7"/>
          <p:cNvSpPr/>
          <p:nvPr/>
        </p:nvSpPr>
        <p:spPr>
          <a:xfrm>
            <a:off x="8965692" y="1828800"/>
            <a:ext cx="136017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Risk aggregator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7" name="Google Shape;287;p7"/>
          <p:cNvCxnSpPr/>
          <p:nvPr/>
        </p:nvCxnSpPr>
        <p:spPr>
          <a:xfrm>
            <a:off x="10325862" y="2148840"/>
            <a:ext cx="73152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8" name="Google Shape;288;p7"/>
          <p:cNvSpPr/>
          <p:nvPr/>
        </p:nvSpPr>
        <p:spPr>
          <a:xfrm>
            <a:off x="10399014" y="1828800"/>
            <a:ext cx="1360170" cy="640080"/>
          </a:xfrm>
          <a:prstGeom prst="roundRect">
            <a:avLst>
              <a:gd fmla="val 8571" name="adj"/>
            </a:avLst>
          </a:prstGeom>
          <a:solidFill>
            <a:srgbClr val="151B27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7"/>
          <p:cNvSpPr/>
          <p:nvPr/>
        </p:nvSpPr>
        <p:spPr>
          <a:xfrm>
            <a:off x="10399014" y="1828800"/>
            <a:ext cx="136017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Challenge / block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7"/>
          <p:cNvSpPr/>
          <p:nvPr/>
        </p:nvSpPr>
        <p:spPr>
          <a:xfrm>
            <a:off x="365760" y="2834640"/>
            <a:ext cx="6858000" cy="374904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7"/>
          <p:cNvSpPr/>
          <p:nvPr/>
        </p:nvSpPr>
        <p:spPr>
          <a:xfrm>
            <a:off x="365760" y="2834640"/>
            <a:ext cx="54864" cy="374904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"/>
          <p:cNvSpPr/>
          <p:nvPr/>
        </p:nvSpPr>
        <p:spPr>
          <a:xfrm>
            <a:off x="548640" y="2971800"/>
            <a:ext cx="6583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DETECTORS  ·  18 classes  ·  per-class hot toggle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7"/>
          <p:cNvSpPr/>
          <p:nvPr/>
        </p:nvSpPr>
        <p:spPr>
          <a:xfrm>
            <a:off x="548640" y="3355848"/>
            <a:ext cx="109728" cy="109728"/>
          </a:xfrm>
          <a:prstGeom prst="ellipse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7"/>
          <p:cNvSpPr/>
          <p:nvPr/>
        </p:nvSpPr>
        <p:spPr>
          <a:xfrm>
            <a:off x="548640" y="6278270"/>
            <a:ext cx="109728" cy="109728"/>
          </a:xfrm>
          <a:prstGeom prst="ellipse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7"/>
          <p:cNvSpPr/>
          <p:nvPr/>
        </p:nvSpPr>
        <p:spPr>
          <a:xfrm>
            <a:off x="548640" y="6106363"/>
            <a:ext cx="109728" cy="109728"/>
          </a:xfrm>
          <a:prstGeom prst="ellipse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7"/>
          <p:cNvSpPr/>
          <p:nvPr/>
        </p:nvSpPr>
        <p:spPr>
          <a:xfrm>
            <a:off x="548640" y="5934455"/>
            <a:ext cx="109728" cy="109728"/>
          </a:xfrm>
          <a:prstGeom prst="ellipse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7"/>
          <p:cNvSpPr/>
          <p:nvPr/>
        </p:nvSpPr>
        <p:spPr>
          <a:xfrm>
            <a:off x="731520" y="3310128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sqli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7"/>
          <p:cNvSpPr/>
          <p:nvPr/>
        </p:nvSpPr>
        <p:spPr>
          <a:xfrm>
            <a:off x="731520" y="6232550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ai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7"/>
          <p:cNvSpPr/>
          <p:nvPr/>
        </p:nvSpPr>
        <p:spPr>
          <a:xfrm>
            <a:off x="731520" y="6060643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canary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7"/>
          <p:cNvSpPr/>
          <p:nvPr/>
        </p:nvSpPr>
        <p:spPr>
          <a:xfrm>
            <a:off x="731520" y="5888736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velocity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7"/>
          <p:cNvSpPr/>
          <p:nvPr/>
        </p:nvSpPr>
        <p:spPr>
          <a:xfrm>
            <a:off x="2514600" y="3310128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Classical · boolean · time-based · UNION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7"/>
          <p:cNvSpPr/>
          <p:nvPr/>
        </p:nvSpPr>
        <p:spPr>
          <a:xfrm>
            <a:off x="2514600" y="6232550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ONNX · per-tier override · hot-reload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7"/>
          <p:cNvSpPr/>
          <p:nvPr/>
        </p:nvSpPr>
        <p:spPr>
          <a:xfrm>
            <a:off x="2514600" y="6060643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Decoy paths (/admin, /.env) — instant block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7"/>
          <p:cNvSpPr/>
          <p:nvPr/>
        </p:nvSpPr>
        <p:spPr>
          <a:xfrm>
            <a:off x="2514600" y="5888736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Cross-endpoint seq — login→deposit &lt;5s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7"/>
          <p:cNvSpPr/>
          <p:nvPr/>
        </p:nvSpPr>
        <p:spPr>
          <a:xfrm>
            <a:off x="548640" y="3527755"/>
            <a:ext cx="109728" cy="109728"/>
          </a:xfrm>
          <a:prstGeom prst="ellipse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7"/>
          <p:cNvSpPr/>
          <p:nvPr/>
        </p:nvSpPr>
        <p:spPr>
          <a:xfrm>
            <a:off x="731520" y="3482035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xss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7"/>
          <p:cNvSpPr/>
          <p:nvPr/>
        </p:nvSpPr>
        <p:spPr>
          <a:xfrm>
            <a:off x="2514600" y="3482035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Tag · attr · JS-URI · SVG · mixed-context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7"/>
          <p:cNvSpPr/>
          <p:nvPr/>
        </p:nvSpPr>
        <p:spPr>
          <a:xfrm>
            <a:off x="548640" y="3699662"/>
            <a:ext cx="109728" cy="109728"/>
          </a:xfrm>
          <a:prstGeom prst="ellipse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7"/>
          <p:cNvSpPr/>
          <p:nvPr/>
        </p:nvSpPr>
        <p:spPr>
          <a:xfrm>
            <a:off x="731520" y="3653942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path_traversal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7"/>
          <p:cNvSpPr/>
          <p:nvPr/>
        </p:nvSpPr>
        <p:spPr>
          <a:xfrm>
            <a:off x="2514600" y="3653942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../ · %2e%2e · encoded · double-encoded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7"/>
          <p:cNvSpPr/>
          <p:nvPr/>
        </p:nvSpPr>
        <p:spPr>
          <a:xfrm>
            <a:off x="548640" y="3871569"/>
            <a:ext cx="109728" cy="109728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731520" y="3825849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ssrf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7"/>
          <p:cNvSpPr/>
          <p:nvPr/>
        </p:nvSpPr>
        <p:spPr>
          <a:xfrm>
            <a:off x="2514600" y="3825849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Metadata IPs · file:// · gopher:// · CIDRs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7"/>
          <p:cNvSpPr/>
          <p:nvPr/>
        </p:nvSpPr>
        <p:spPr>
          <a:xfrm>
            <a:off x="548640" y="4043476"/>
            <a:ext cx="109728" cy="109728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7"/>
          <p:cNvSpPr/>
          <p:nvPr/>
        </p:nvSpPr>
        <p:spPr>
          <a:xfrm>
            <a:off x="731520" y="3997756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header_injection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7"/>
          <p:cNvSpPr/>
          <p:nvPr/>
        </p:nvSpPr>
        <p:spPr>
          <a:xfrm>
            <a:off x="2514600" y="3997756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CRLF · XFH poison · method/URL override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7"/>
          <p:cNvSpPr/>
          <p:nvPr/>
        </p:nvSpPr>
        <p:spPr>
          <a:xfrm>
            <a:off x="548640" y="4215384"/>
            <a:ext cx="109728" cy="109728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7"/>
          <p:cNvSpPr/>
          <p:nvPr/>
        </p:nvSpPr>
        <p:spPr>
          <a:xfrm>
            <a:off x="731520" y="4169664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body_abuse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7"/>
          <p:cNvSpPr/>
          <p:nvPr/>
        </p:nvSpPr>
        <p:spPr>
          <a:xfrm>
            <a:off x="2514600" y="4169664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Oversize · depth · proto-pollution · XXE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7"/>
          <p:cNvSpPr/>
          <p:nvPr/>
        </p:nvSpPr>
        <p:spPr>
          <a:xfrm>
            <a:off x="548640" y="4387291"/>
            <a:ext cx="109728" cy="109728"/>
          </a:xfrm>
          <a:prstGeom prst="ellipse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731520" y="4341571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recon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/>
          <p:nvPr/>
        </p:nvSpPr>
        <p:spPr>
          <a:xfrm>
            <a:off x="2514600" y="4341571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/.env, /wp-admin · sqlmap, nikto UAs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7"/>
          <p:cNvSpPr/>
          <p:nvPr/>
        </p:nvSpPr>
        <p:spPr>
          <a:xfrm>
            <a:off x="548640" y="4559198"/>
            <a:ext cx="109728" cy="109728"/>
          </a:xfrm>
          <a:prstGeom prst="ellipse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7"/>
          <p:cNvSpPr/>
          <p:nvPr/>
        </p:nvSpPr>
        <p:spPr>
          <a:xfrm>
            <a:off x="731520" y="4513478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brute_force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7"/>
          <p:cNvSpPr/>
          <p:nvPr/>
        </p:nvSpPr>
        <p:spPr>
          <a:xfrm>
            <a:off x="2514600" y="4513478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Login-failure cap · 10/min per IP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7"/>
          <p:cNvSpPr/>
          <p:nvPr/>
        </p:nvSpPr>
        <p:spPr>
          <a:xfrm>
            <a:off x="548640" y="4731105"/>
            <a:ext cx="109728" cy="109728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"/>
          <p:cNvSpPr/>
          <p:nvPr/>
        </p:nvSpPr>
        <p:spPr>
          <a:xfrm>
            <a:off x="731520" y="4685385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command_injection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2514600" y="4685385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$(), |cmd, /bin/sh · Log4Shell ${jndi}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7"/>
          <p:cNvSpPr/>
          <p:nvPr/>
        </p:nvSpPr>
        <p:spPr>
          <a:xfrm>
            <a:off x="548640" y="4903012"/>
            <a:ext cx="109728" cy="109728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7"/>
          <p:cNvSpPr/>
          <p:nvPr/>
        </p:nvSpPr>
        <p:spPr>
          <a:xfrm>
            <a:off x="731520" y="4857292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template_injection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7"/>
          <p:cNvSpPr/>
          <p:nvPr/>
        </p:nvSpPr>
        <p:spPr>
          <a:xfrm>
            <a:off x="2514600" y="4857292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Jinja2 · Twig · Freemarker · SpEL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7"/>
          <p:cNvSpPr/>
          <p:nvPr/>
        </p:nvSpPr>
        <p:spPr>
          <a:xfrm>
            <a:off x="548640" y="5074920"/>
            <a:ext cx="109728" cy="109728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7"/>
          <p:cNvSpPr/>
          <p:nvPr/>
        </p:nvSpPr>
        <p:spPr>
          <a:xfrm>
            <a:off x="731520" y="5029200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nosql_injection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7"/>
          <p:cNvSpPr/>
          <p:nvPr/>
        </p:nvSpPr>
        <p:spPr>
          <a:xfrm>
            <a:off x="2514600" y="5029200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[$ne] · [$where] · {$gt} operators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548640" y="5246827"/>
            <a:ext cx="109728" cy="109728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7"/>
          <p:cNvSpPr/>
          <p:nvPr/>
        </p:nvSpPr>
        <p:spPr>
          <a:xfrm>
            <a:off x="731520" y="5201107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open_redirect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7"/>
          <p:cNvSpPr/>
          <p:nvPr/>
        </p:nvSpPr>
        <p:spPr>
          <a:xfrm>
            <a:off x="2514600" y="5201107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?next= / ?redirect_uri= w/ allowlist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7"/>
          <p:cNvSpPr/>
          <p:nvPr/>
        </p:nvSpPr>
        <p:spPr>
          <a:xfrm>
            <a:off x="548640" y="5418734"/>
            <a:ext cx="109728" cy="109728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7"/>
          <p:cNvSpPr/>
          <p:nvPr/>
        </p:nvSpPr>
        <p:spPr>
          <a:xfrm>
            <a:off x="731520" y="5373014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jwt_inspection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7"/>
          <p:cNvSpPr/>
          <p:nvPr/>
        </p:nvSpPr>
        <p:spPr>
          <a:xfrm>
            <a:off x="2514600" y="5373014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NEW · alg:none · x5c/jwk · kid · jku/x5u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7"/>
          <p:cNvSpPr/>
          <p:nvPr/>
        </p:nvSpPr>
        <p:spPr>
          <a:xfrm>
            <a:off x="548640" y="5590641"/>
            <a:ext cx="109728" cy="109728"/>
          </a:xfrm>
          <a:prstGeom prst="ellipse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7"/>
          <p:cNvSpPr/>
          <p:nvPr/>
        </p:nvSpPr>
        <p:spPr>
          <a:xfrm>
            <a:off x="731520" y="5544921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cookie_injection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7"/>
          <p:cNvSpPr/>
          <p:nvPr/>
        </p:nvSpPr>
        <p:spPr>
          <a:xfrm>
            <a:off x="2514600" y="5544921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NEW · SQLi/NoSQLi in session cookies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7"/>
          <p:cNvSpPr/>
          <p:nvPr/>
        </p:nvSpPr>
        <p:spPr>
          <a:xfrm>
            <a:off x="548640" y="5762548"/>
            <a:ext cx="109728" cy="109728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7"/>
          <p:cNvSpPr/>
          <p:nvPr/>
        </p:nvSpPr>
        <p:spPr>
          <a:xfrm>
            <a:off x="731520" y="5716828"/>
            <a:ext cx="173736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behavior_signals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7"/>
          <p:cNvSpPr/>
          <p:nvPr/>
        </p:nvSpPr>
        <p:spPr>
          <a:xfrm>
            <a:off x="2514600" y="5716828"/>
            <a:ext cx="4526280" cy="214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NEW · missing UA/Referer · first-touch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7"/>
          <p:cNvSpPr/>
          <p:nvPr/>
        </p:nvSpPr>
        <p:spPr>
          <a:xfrm>
            <a:off x="7360920" y="2834640"/>
            <a:ext cx="4434840" cy="374904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7"/>
          <p:cNvSpPr/>
          <p:nvPr/>
        </p:nvSpPr>
        <p:spPr>
          <a:xfrm>
            <a:off x="7360920" y="2834640"/>
            <a:ext cx="54864" cy="3749040"/>
          </a:xfrm>
          <a:prstGeom prst="rect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7"/>
          <p:cNvSpPr/>
          <p:nvPr/>
        </p:nvSpPr>
        <p:spPr>
          <a:xfrm>
            <a:off x="7543800" y="2971800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RISK TIERS  ·  per-tier block threshold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7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7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DC2626"/>
                </a:solidFill>
                <a:latin typeface="Courier New"/>
                <a:ea typeface="Courier New"/>
                <a:cs typeface="Courier New"/>
                <a:sym typeface="Courier New"/>
              </a:rPr>
              <a:t>CRITICAL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7"/>
          <p:cNvSpPr/>
          <p:nvPr/>
        </p:nvSpPr>
        <p:spPr>
          <a:xfrm>
            <a:off x="8915400" y="3337560"/>
            <a:ext cx="1828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block @ 50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7"/>
          <p:cNvSpPr/>
          <p:nvPr/>
        </p:nvSpPr>
        <p:spPr>
          <a:xfrm>
            <a:off x="7543800" y="3685032"/>
            <a:ext cx="40690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auth/payment APIs · never shed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7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7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HIGH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7"/>
          <p:cNvSpPr/>
          <p:nvPr/>
        </p:nvSpPr>
        <p:spPr>
          <a:xfrm>
            <a:off x="8915400" y="3977640"/>
            <a:ext cx="1828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block @ 60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7"/>
          <p:cNvSpPr/>
          <p:nvPr/>
        </p:nvSpPr>
        <p:spPr>
          <a:xfrm>
            <a:off x="7543800" y="4325112"/>
            <a:ext cx="40690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user-mutating endpoints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7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7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MEDIUM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7"/>
          <p:cNvSpPr/>
          <p:nvPr/>
        </p:nvSpPr>
        <p:spPr>
          <a:xfrm>
            <a:off x="8915400" y="4617720"/>
            <a:ext cx="1828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block @ 70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7"/>
          <p:cNvSpPr/>
          <p:nvPr/>
        </p:nvSpPr>
        <p:spPr>
          <a:xfrm>
            <a:off x="7543800" y="4965192"/>
            <a:ext cx="40690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read APIs · default tier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7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7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LOW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7"/>
          <p:cNvSpPr/>
          <p:nvPr/>
        </p:nvSpPr>
        <p:spPr>
          <a:xfrm>
            <a:off x="8915400" y="5257800"/>
            <a:ext cx="1828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block @ 80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7"/>
          <p:cNvSpPr/>
          <p:nvPr/>
        </p:nvSpPr>
        <p:spPr>
          <a:xfrm>
            <a:off x="7543800" y="5605272"/>
            <a:ext cx="40690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static · cacheable surface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7"/>
          <p:cNvSpPr/>
          <p:nvPr/>
        </p:nvSpPr>
        <p:spPr>
          <a:xfrm>
            <a:off x="7543800" y="6126480"/>
            <a:ext cx="4069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0"/>
              <a:buFont typeface="Calibri"/>
              <a:buNone/>
            </a:pPr>
            <a:r>
              <a:rPr i="1" lang="en-US" sz="9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Audit-mutated, hot-swap, no restart.  Per-tier `challenges_enabled` toggle in dashboard.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7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7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7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8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8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AI DETECTOR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8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ONNX classifier  ·  2.3 M-sample corpus  ·  Rust inference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8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Operator-supplied ONNX via ort 2.0 · 26-feature extractor · hybrid observe → enforce.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Improved: per-tier deployment (Critical on / Low off) · hot model reload · calibrated confidence threshold.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8"/>
          <p:cNvSpPr/>
          <p:nvPr/>
        </p:nvSpPr>
        <p:spPr>
          <a:xfrm>
            <a:off x="365760" y="1691640"/>
            <a:ext cx="216408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8"/>
          <p:cNvSpPr/>
          <p:nvPr/>
        </p:nvSpPr>
        <p:spPr>
          <a:xfrm>
            <a:off x="365760" y="1828800"/>
            <a:ext cx="216408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FFD541"/>
                </a:solidFill>
                <a:latin typeface="Arial Black"/>
                <a:ea typeface="Arial Black"/>
                <a:cs typeface="Arial Black"/>
                <a:sym typeface="Arial Black"/>
              </a:rPr>
              <a:t>94.3%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8"/>
          <p:cNvSpPr/>
          <p:nvPr/>
        </p:nvSpPr>
        <p:spPr>
          <a:xfrm>
            <a:off x="502920" y="2468880"/>
            <a:ext cx="1889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multi-class accuracy  ·  11 classes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8"/>
          <p:cNvSpPr/>
          <p:nvPr/>
        </p:nvSpPr>
        <p:spPr>
          <a:xfrm>
            <a:off x="2667000" y="1691640"/>
            <a:ext cx="216408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8"/>
          <p:cNvSpPr/>
          <p:nvPr/>
        </p:nvSpPr>
        <p:spPr>
          <a:xfrm>
            <a:off x="2667000" y="1828800"/>
            <a:ext cx="216408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34D399"/>
                </a:solidFill>
                <a:latin typeface="Arial Black"/>
                <a:ea typeface="Arial Black"/>
                <a:cs typeface="Arial Black"/>
                <a:sym typeface="Arial Black"/>
              </a:rPr>
              <a:t>0.5 ms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8"/>
          <p:cNvSpPr/>
          <p:nvPr/>
        </p:nvSpPr>
        <p:spPr>
          <a:xfrm>
            <a:off x="2804160" y="2468880"/>
            <a:ext cx="1889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p99 latency  ·  Rust  ·  batch=1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8"/>
          <p:cNvSpPr/>
          <p:nvPr/>
        </p:nvSpPr>
        <p:spPr>
          <a:xfrm>
            <a:off x="4968240" y="1691640"/>
            <a:ext cx="216408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8"/>
          <p:cNvSpPr/>
          <p:nvPr/>
        </p:nvSpPr>
        <p:spPr>
          <a:xfrm>
            <a:off x="4968240" y="1828800"/>
            <a:ext cx="2164080" cy="704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60A5FA"/>
                </a:solidFill>
                <a:latin typeface="Arial Black"/>
                <a:ea typeface="Arial Black"/>
                <a:cs typeface="Arial Black"/>
                <a:sym typeface="Arial Black"/>
              </a:rPr>
              <a:t>4,600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8"/>
          <p:cNvSpPr/>
          <p:nvPr/>
        </p:nvSpPr>
        <p:spPr>
          <a:xfrm>
            <a:off x="5105400" y="2468880"/>
            <a:ext cx="1889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req/s  ·  Rust  ·  batch=1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8"/>
          <p:cNvSpPr/>
          <p:nvPr/>
        </p:nvSpPr>
        <p:spPr>
          <a:xfrm>
            <a:off x="365760" y="3154680"/>
            <a:ext cx="6766560" cy="32461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8"/>
          <p:cNvSpPr/>
          <p:nvPr/>
        </p:nvSpPr>
        <p:spPr>
          <a:xfrm>
            <a:off x="365760" y="3154680"/>
            <a:ext cx="54864" cy="324612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8"/>
          <p:cNvSpPr/>
          <p:nvPr/>
        </p:nvSpPr>
        <p:spPr>
          <a:xfrm>
            <a:off x="594360" y="32918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TRAINING CORPUS  ·  ~2.3 M samples  ·  8 sources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8"/>
          <p:cNvSpPr/>
          <p:nvPr/>
        </p:nvSpPr>
        <p:spPr>
          <a:xfrm>
            <a:off x="594360" y="36118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Real traffic + synthetic — LLM Generator v1 added 200K attacks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8"/>
          <p:cNvSpPr/>
          <p:nvPr/>
        </p:nvSpPr>
        <p:spPr>
          <a:xfrm>
            <a:off x="594360" y="406908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SOURCES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8"/>
          <p:cNvSpPr/>
          <p:nvPr/>
        </p:nvSpPr>
        <p:spPr>
          <a:xfrm>
            <a:off x="594360" y="4343400"/>
            <a:ext cx="3108960" cy="1874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openappsec  ·  1.3 M legitimate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openappsec  ·  74 K malicious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SRBH2020  ·  594 K combine + 13 K test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CSIC 2010  ·  97 K HTTP requests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HuggingFace ai-waf  ·  12 K REST + JSON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PayloadsAllTheThings  ·  6 K wrapped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LLM Generator v1  ·  210 K (200K + 10K)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8"/>
          <p:cNvSpPr/>
          <p:nvPr/>
        </p:nvSpPr>
        <p:spPr>
          <a:xfrm>
            <a:off x="3886200" y="4069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PER-CLASS F1  ·  top 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8"/>
          <p:cNvSpPr/>
          <p:nvPr/>
        </p:nvSpPr>
        <p:spPr>
          <a:xfrm>
            <a:off x="3886200" y="4361688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XXE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8"/>
          <p:cNvSpPr/>
          <p:nvPr/>
        </p:nvSpPr>
        <p:spPr>
          <a:xfrm>
            <a:off x="6126480" y="436168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1.000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8"/>
          <p:cNvSpPr/>
          <p:nvPr/>
        </p:nvSpPr>
        <p:spPr>
          <a:xfrm>
            <a:off x="3886200" y="4654296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XSS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8"/>
          <p:cNvSpPr/>
          <p:nvPr/>
        </p:nvSpPr>
        <p:spPr>
          <a:xfrm>
            <a:off x="6126480" y="465429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0.998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3886200" y="4946904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Log4Shell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8"/>
          <p:cNvSpPr/>
          <p:nvPr/>
        </p:nvSpPr>
        <p:spPr>
          <a:xfrm>
            <a:off x="6126480" y="494690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0.978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8"/>
          <p:cNvSpPr/>
          <p:nvPr/>
        </p:nvSpPr>
        <p:spPr>
          <a:xfrm>
            <a:off x="3886200" y="5239512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HTTP abusion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8"/>
          <p:cNvSpPr/>
          <p:nvPr/>
        </p:nvSpPr>
        <p:spPr>
          <a:xfrm>
            <a:off x="6126480" y="5239512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0.970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8"/>
          <p:cNvSpPr/>
          <p:nvPr/>
        </p:nvSpPr>
        <p:spPr>
          <a:xfrm>
            <a:off x="3886200" y="553212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Injection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8"/>
          <p:cNvSpPr/>
          <p:nvPr/>
        </p:nvSpPr>
        <p:spPr>
          <a:xfrm>
            <a:off x="6126480" y="55321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0.964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8"/>
          <p:cNvSpPr/>
          <p:nvPr/>
        </p:nvSpPr>
        <p:spPr>
          <a:xfrm>
            <a:off x="3886200" y="5824728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Fake Source of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8"/>
          <p:cNvSpPr/>
          <p:nvPr/>
        </p:nvSpPr>
        <p:spPr>
          <a:xfrm>
            <a:off x="6126480" y="58247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0.940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8"/>
          <p:cNvSpPr/>
          <p:nvPr/>
        </p:nvSpPr>
        <p:spPr>
          <a:xfrm>
            <a:off x="7315200" y="1691640"/>
            <a:ext cx="4480560" cy="260604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8"/>
          <p:cNvSpPr/>
          <p:nvPr/>
        </p:nvSpPr>
        <p:spPr>
          <a:xfrm>
            <a:off x="7315200" y="1691640"/>
            <a:ext cx="54864" cy="2606040"/>
          </a:xfrm>
          <a:prstGeom prst="rect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8"/>
          <p:cNvSpPr/>
          <p:nvPr/>
        </p:nvSpPr>
        <p:spPr>
          <a:xfrm>
            <a:off x="7498080" y="1801368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21 ATTACK CLASSES  ·  11 base + 10 new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8"/>
          <p:cNvSpPr/>
          <p:nvPr/>
        </p:nvSpPr>
        <p:spPr>
          <a:xfrm>
            <a:off x="7498080" y="2075688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LLM Generator v1 expanded taxonomy 2×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8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8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ldap_injection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8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8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nosql_injection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8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8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open_redirect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8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8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graphql_abuse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8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8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prototype_poll.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8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8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rce_deserial.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8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8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http_smuggling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8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8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jwt_abuse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8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8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websocket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8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8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evasion_chain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8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8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polyglot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8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8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+ 11 from v1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8"/>
          <p:cNvSpPr/>
          <p:nvPr/>
        </p:nvSpPr>
        <p:spPr>
          <a:xfrm>
            <a:off x="7315200" y="4434840"/>
            <a:ext cx="4480560" cy="19659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8"/>
          <p:cNvSpPr/>
          <p:nvPr/>
        </p:nvSpPr>
        <p:spPr>
          <a:xfrm>
            <a:off x="7315200" y="4434840"/>
            <a:ext cx="54864" cy="196596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8"/>
          <p:cNvSpPr/>
          <p:nvPr/>
        </p:nvSpPr>
        <p:spPr>
          <a:xfrm>
            <a:off x="7498080" y="4572000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13 OBFUSCATION TECHNIQUES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8"/>
          <p:cNvSpPr/>
          <p:nvPr/>
        </p:nvSpPr>
        <p:spPr>
          <a:xfrm>
            <a:off x="7498080" y="489204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Labeled at sample level for evasion-aware training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8"/>
          <p:cNvSpPr/>
          <p:nvPr/>
        </p:nvSpPr>
        <p:spPr>
          <a:xfrm>
            <a:off x="7498080" y="52760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8"/>
          <p:cNvSpPr/>
          <p:nvPr/>
        </p:nvSpPr>
        <p:spPr>
          <a:xfrm>
            <a:off x="7644384" y="52120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urlenc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8"/>
          <p:cNvSpPr/>
          <p:nvPr/>
        </p:nvSpPr>
        <p:spPr>
          <a:xfrm>
            <a:off x="8526780" y="52760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8"/>
          <p:cNvSpPr/>
          <p:nvPr/>
        </p:nvSpPr>
        <p:spPr>
          <a:xfrm>
            <a:off x="8673084" y="52120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urlenc2x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8"/>
          <p:cNvSpPr/>
          <p:nvPr/>
        </p:nvSpPr>
        <p:spPr>
          <a:xfrm>
            <a:off x="9555480" y="52760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8"/>
          <p:cNvSpPr/>
          <p:nvPr/>
        </p:nvSpPr>
        <p:spPr>
          <a:xfrm>
            <a:off x="9701784" y="52120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urlenc3x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8"/>
          <p:cNvSpPr/>
          <p:nvPr/>
        </p:nvSpPr>
        <p:spPr>
          <a:xfrm>
            <a:off x="10584180" y="52760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8"/>
          <p:cNvSpPr/>
          <p:nvPr/>
        </p:nvSpPr>
        <p:spPr>
          <a:xfrm>
            <a:off x="10730484" y="52120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hex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8"/>
          <p:cNvSpPr/>
          <p:nvPr/>
        </p:nvSpPr>
        <p:spPr>
          <a:xfrm>
            <a:off x="7498080" y="55046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8"/>
          <p:cNvSpPr/>
          <p:nvPr/>
        </p:nvSpPr>
        <p:spPr>
          <a:xfrm>
            <a:off x="7644384" y="54406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uniesc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8"/>
          <p:cNvSpPr/>
          <p:nvPr/>
        </p:nvSpPr>
        <p:spPr>
          <a:xfrm>
            <a:off x="8526780" y="55046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8"/>
          <p:cNvSpPr/>
          <p:nvPr/>
        </p:nvSpPr>
        <p:spPr>
          <a:xfrm>
            <a:off x="8673084" y="54406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case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8"/>
          <p:cNvSpPr/>
          <p:nvPr/>
        </p:nvSpPr>
        <p:spPr>
          <a:xfrm>
            <a:off x="9555480" y="55046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8"/>
          <p:cNvSpPr/>
          <p:nvPr/>
        </p:nvSpPr>
        <p:spPr>
          <a:xfrm>
            <a:off x="9701784" y="54406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sqlcomment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8"/>
          <p:cNvSpPr/>
          <p:nvPr/>
        </p:nvSpPr>
        <p:spPr>
          <a:xfrm>
            <a:off x="10584180" y="55046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8"/>
          <p:cNvSpPr/>
          <p:nvPr/>
        </p:nvSpPr>
        <p:spPr>
          <a:xfrm>
            <a:off x="10730484" y="54406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ws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8"/>
          <p:cNvSpPr/>
          <p:nvPr/>
        </p:nvSpPr>
        <p:spPr>
          <a:xfrm>
            <a:off x="7498080" y="57332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8"/>
          <p:cNvSpPr/>
          <p:nvPr/>
        </p:nvSpPr>
        <p:spPr>
          <a:xfrm>
            <a:off x="7644384" y="56692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tab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8"/>
          <p:cNvSpPr/>
          <p:nvPr/>
        </p:nvSpPr>
        <p:spPr>
          <a:xfrm>
            <a:off x="8526780" y="57332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8"/>
          <p:cNvSpPr/>
          <p:nvPr/>
        </p:nvSpPr>
        <p:spPr>
          <a:xfrm>
            <a:off x="8673084" y="56692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newline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8"/>
          <p:cNvSpPr/>
          <p:nvPr/>
        </p:nvSpPr>
        <p:spPr>
          <a:xfrm>
            <a:off x="9555480" y="57332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8"/>
          <p:cNvSpPr/>
          <p:nvPr/>
        </p:nvSpPr>
        <p:spPr>
          <a:xfrm>
            <a:off x="9701784" y="56692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html_dec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8"/>
          <p:cNvSpPr/>
          <p:nvPr/>
        </p:nvSpPr>
        <p:spPr>
          <a:xfrm>
            <a:off x="10584180" y="57332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8"/>
          <p:cNvSpPr/>
          <p:nvPr/>
        </p:nvSpPr>
        <p:spPr>
          <a:xfrm>
            <a:off x="10730484" y="56692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html_hex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8"/>
          <p:cNvSpPr/>
          <p:nvPr/>
        </p:nvSpPr>
        <p:spPr>
          <a:xfrm>
            <a:off x="7498080" y="5961888"/>
            <a:ext cx="82296" cy="8229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8"/>
          <p:cNvSpPr/>
          <p:nvPr/>
        </p:nvSpPr>
        <p:spPr>
          <a:xfrm>
            <a:off x="7644384" y="5897880"/>
            <a:ext cx="86410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8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8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8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9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9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RISK &amp; BOT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9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Composite risk score  ·  challenge ladder  ·  JA4 fingerprint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9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Risk score combines detector hits, fingerprint, geo &amp; threat intel. Trust recovery lets clean traffic from a flagged IP fall back to normal.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9"/>
          <p:cNvSpPr/>
          <p:nvPr/>
        </p:nvSpPr>
        <p:spPr>
          <a:xfrm>
            <a:off x="365760" y="1828800"/>
            <a:ext cx="5715000" cy="45720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9"/>
          <p:cNvSpPr/>
          <p:nvPr/>
        </p:nvSpPr>
        <p:spPr>
          <a:xfrm>
            <a:off x="365760" y="1828800"/>
            <a:ext cx="54864" cy="4572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9"/>
          <p:cNvSpPr/>
          <p:nvPr/>
        </p:nvSpPr>
        <p:spPr>
          <a:xfrm>
            <a:off x="594360" y="1965960"/>
            <a:ext cx="5349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RISK SCORING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9"/>
          <p:cNvSpPr/>
          <p:nvPr/>
        </p:nvSpPr>
        <p:spPr>
          <a:xfrm>
            <a:off x="594360" y="224028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Composite  ·  decay  ·  trust recovery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9"/>
          <p:cNvSpPr/>
          <p:nvPr/>
        </p:nvSpPr>
        <p:spPr>
          <a:xfrm>
            <a:off x="594360" y="2697480"/>
            <a:ext cx="534924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6075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Composite RiskKey: { ip, device_fp?, session? }  — two sessions on a NAT'd IP climb independently.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Inputs: detector hits, JA4 / JA3 TLS fp, h2 fingerprint, geo / ASN, threat-intel hit.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27 signal types  ·  5-tier framework (Critical RCE/CVE → Probe/canary).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Exponential decay  ·  half-life 5 min default  ·  trust recovery from sustained clean traffic.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Per-tier `challenge_at` / `block_at`, hot-swap.  Default: challenge ≥ 99998, block ≥ 99999.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Surfaces on Top Attackers (Identifier + Composite RiskKey views) + Live Feed.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9"/>
          <p:cNvSpPr/>
          <p:nvPr/>
        </p:nvSpPr>
        <p:spPr>
          <a:xfrm>
            <a:off x="6263640" y="1828800"/>
            <a:ext cx="5715000" cy="45720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9"/>
          <p:cNvSpPr/>
          <p:nvPr/>
        </p:nvSpPr>
        <p:spPr>
          <a:xfrm>
            <a:off x="6263640" y="1828800"/>
            <a:ext cx="54864" cy="457200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9"/>
          <p:cNvSpPr/>
          <p:nvPr/>
        </p:nvSpPr>
        <p:spPr>
          <a:xfrm>
            <a:off x="6492240" y="1965960"/>
            <a:ext cx="5349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BOT MANAGEMENT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9"/>
          <p:cNvSpPr/>
          <p:nvPr/>
        </p:nvSpPr>
        <p:spPr>
          <a:xfrm>
            <a:off x="6492240" y="224028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JA4 / h2 fingerprint  ·  challenge ladder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9"/>
          <p:cNvSpPr/>
          <p:nvPr/>
        </p:nvSpPr>
        <p:spPr>
          <a:xfrm>
            <a:off x="6492240" y="2697480"/>
            <a:ext cx="534924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6075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JA4 / JA3 TLS fingerprint + HTTP/2 fingerprint + UA entropy.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Verified-bot rDNS allow-list — Googlebot / Bingbot / Applebot.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Behavioral velocity-sequence detector — request cadence + path entropy.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Brute-force detector + canary signal (deception trap on /admin/, /.env, /.git).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Ladder:  JS challenge → CAPTCHA → block, opt-in per-tier.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6075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Challenge tokens HMAC-signed, nonce-bound, single-use.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9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9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0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TRAFFIC GATES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0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5 binary block-or-pass gates  ·  before the detector chain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0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First short-circuit wins.  Cheap filters run first; DDoS fires last so burst attackers are still rate-limited before getting volumetric protection.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0"/>
          <p:cNvSpPr/>
          <p:nvPr/>
        </p:nvSpPr>
        <p:spPr>
          <a:xfrm>
            <a:off x="365760" y="1783080"/>
            <a:ext cx="2198218" cy="868680"/>
          </a:xfrm>
          <a:prstGeom prst="roundRect">
            <a:avLst>
              <a:gd fmla="val 8421" name="adj"/>
            </a:avLst>
          </a:prstGeom>
          <a:solidFill>
            <a:srgbClr val="151B27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0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0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2200"/>
              <a:buFont typeface="Arial Black"/>
              <a:buNone/>
            </a:pPr>
            <a:r>
              <a:rPr b="1" lang="en-US" sz="2200">
                <a:solidFill>
                  <a:srgbClr val="0B0F1A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0"/>
          <p:cNvSpPr/>
          <p:nvPr/>
        </p:nvSpPr>
        <p:spPr>
          <a:xfrm>
            <a:off x="1005840" y="1892808"/>
            <a:ext cx="14666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ACCESS LIST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0"/>
          <p:cNvSpPr/>
          <p:nvPr/>
        </p:nvSpPr>
        <p:spPr>
          <a:xfrm>
            <a:off x="1005840" y="2148840"/>
            <a:ext cx="146669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IP / CIDR / country block + allow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1" name="Google Shape;501;p10"/>
          <p:cNvCxnSpPr/>
          <p:nvPr/>
        </p:nvCxnSpPr>
        <p:spPr>
          <a:xfrm>
            <a:off x="2563978" y="2217420"/>
            <a:ext cx="109728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02" name="Google Shape;502;p10"/>
          <p:cNvSpPr/>
          <p:nvPr/>
        </p:nvSpPr>
        <p:spPr>
          <a:xfrm>
            <a:off x="2673706" y="1783080"/>
            <a:ext cx="2198218" cy="868680"/>
          </a:xfrm>
          <a:prstGeom prst="roundRect">
            <a:avLst>
              <a:gd fmla="val 8421" name="adj"/>
            </a:avLst>
          </a:prstGeom>
          <a:solidFill>
            <a:srgbClr val="151B2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0"/>
          <p:cNvSpPr/>
          <p:nvPr/>
        </p:nvSpPr>
        <p:spPr>
          <a:xfrm>
            <a:off x="2810866" y="1920240"/>
            <a:ext cx="457200" cy="457200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0"/>
          <p:cNvSpPr/>
          <p:nvPr/>
        </p:nvSpPr>
        <p:spPr>
          <a:xfrm>
            <a:off x="2810866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2200"/>
              <a:buFont typeface="Arial Black"/>
              <a:buNone/>
            </a:pPr>
            <a:r>
              <a:rPr b="1" lang="en-US" sz="2200">
                <a:solidFill>
                  <a:srgbClr val="0B0F1A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0"/>
          <p:cNvSpPr/>
          <p:nvPr/>
        </p:nvSpPr>
        <p:spPr>
          <a:xfrm>
            <a:off x="3313786" y="1892808"/>
            <a:ext cx="14666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STRIKE-BLOCK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0"/>
          <p:cNvSpPr/>
          <p:nvPr/>
        </p:nvSpPr>
        <p:spPr>
          <a:xfrm>
            <a:off x="3313786" y="2148840"/>
            <a:ext cx="146669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Per-RiskKey lifetime strike counter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7" name="Google Shape;507;p10"/>
          <p:cNvCxnSpPr/>
          <p:nvPr/>
        </p:nvCxnSpPr>
        <p:spPr>
          <a:xfrm>
            <a:off x="4871923" y="2217420"/>
            <a:ext cx="109728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08" name="Google Shape;508;p10"/>
          <p:cNvSpPr/>
          <p:nvPr/>
        </p:nvSpPr>
        <p:spPr>
          <a:xfrm>
            <a:off x="4981651" y="1783080"/>
            <a:ext cx="2198218" cy="868680"/>
          </a:xfrm>
          <a:prstGeom prst="roundRect">
            <a:avLst>
              <a:gd fmla="val 8421" name="adj"/>
            </a:avLst>
          </a:prstGeom>
          <a:solidFill>
            <a:srgbClr val="151B27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0"/>
          <p:cNvSpPr/>
          <p:nvPr/>
        </p:nvSpPr>
        <p:spPr>
          <a:xfrm>
            <a:off x="5118811" y="1920240"/>
            <a:ext cx="457200" cy="457200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0"/>
          <p:cNvSpPr/>
          <p:nvPr/>
        </p:nvSpPr>
        <p:spPr>
          <a:xfrm>
            <a:off x="5118811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2200"/>
              <a:buFont typeface="Arial Black"/>
              <a:buNone/>
            </a:pPr>
            <a:r>
              <a:rPr b="1" lang="en-US" sz="2200">
                <a:solidFill>
                  <a:srgbClr val="0B0F1A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0"/>
          <p:cNvSpPr/>
          <p:nvPr/>
        </p:nvSpPr>
        <p:spPr>
          <a:xfrm>
            <a:off x="5621731" y="1892808"/>
            <a:ext cx="14666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CUMULATIVE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0"/>
          <p:cNvSpPr/>
          <p:nvPr/>
        </p:nvSpPr>
        <p:spPr>
          <a:xfrm>
            <a:off x="5621731" y="2148840"/>
            <a:ext cx="146669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Per-RiskKey decaying score + threshold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3" name="Google Shape;513;p10"/>
          <p:cNvCxnSpPr/>
          <p:nvPr/>
        </p:nvCxnSpPr>
        <p:spPr>
          <a:xfrm>
            <a:off x="7179869" y="2217420"/>
            <a:ext cx="109728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14" name="Google Shape;514;p10"/>
          <p:cNvSpPr/>
          <p:nvPr/>
        </p:nvSpPr>
        <p:spPr>
          <a:xfrm>
            <a:off x="7289597" y="1783080"/>
            <a:ext cx="2198218" cy="868680"/>
          </a:xfrm>
          <a:prstGeom prst="roundRect">
            <a:avLst>
              <a:gd fmla="val 8421" name="adj"/>
            </a:avLst>
          </a:prstGeom>
          <a:solidFill>
            <a:srgbClr val="151B27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0"/>
          <p:cNvSpPr/>
          <p:nvPr/>
        </p:nvSpPr>
        <p:spPr>
          <a:xfrm>
            <a:off x="7426757" y="1920240"/>
            <a:ext cx="457200" cy="457200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0"/>
          <p:cNvSpPr/>
          <p:nvPr/>
        </p:nvSpPr>
        <p:spPr>
          <a:xfrm>
            <a:off x="7426757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2200"/>
              <a:buFont typeface="Arial Black"/>
              <a:buNone/>
            </a:pPr>
            <a:r>
              <a:rPr b="1" lang="en-US" sz="2200">
                <a:solidFill>
                  <a:srgbClr val="0B0F1A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0"/>
          <p:cNvSpPr/>
          <p:nvPr/>
        </p:nvSpPr>
        <p:spPr>
          <a:xfrm>
            <a:off x="7929677" y="1892808"/>
            <a:ext cx="14666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RATE LIMIT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0"/>
          <p:cNvSpPr/>
          <p:nvPr/>
        </p:nvSpPr>
        <p:spPr>
          <a:xfrm>
            <a:off x="7929677" y="2148840"/>
            <a:ext cx="146669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Sliding-window  ·  token bucket  ·  Redis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9" name="Google Shape;519;p10"/>
          <p:cNvCxnSpPr/>
          <p:nvPr/>
        </p:nvCxnSpPr>
        <p:spPr>
          <a:xfrm>
            <a:off x="9487814" y="2217420"/>
            <a:ext cx="109728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20" name="Google Shape;520;p10"/>
          <p:cNvSpPr/>
          <p:nvPr/>
        </p:nvSpPr>
        <p:spPr>
          <a:xfrm>
            <a:off x="9597542" y="1783080"/>
            <a:ext cx="2198218" cy="868680"/>
          </a:xfrm>
          <a:prstGeom prst="roundRect">
            <a:avLst>
              <a:gd fmla="val 8421" name="adj"/>
            </a:avLst>
          </a:prstGeom>
          <a:solidFill>
            <a:srgbClr val="151B27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0"/>
          <p:cNvSpPr/>
          <p:nvPr/>
        </p:nvSpPr>
        <p:spPr>
          <a:xfrm>
            <a:off x="9734702" y="1920240"/>
            <a:ext cx="457200" cy="457200"/>
          </a:xfrm>
          <a:prstGeom prst="ellipse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0"/>
          <p:cNvSpPr/>
          <p:nvPr/>
        </p:nvSpPr>
        <p:spPr>
          <a:xfrm>
            <a:off x="9734702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2200"/>
              <a:buFont typeface="Arial Black"/>
              <a:buNone/>
            </a:pPr>
            <a:r>
              <a:rPr b="1" lang="en-US" sz="2200">
                <a:solidFill>
                  <a:srgbClr val="0B0F1A"/>
                </a:solidFill>
                <a:latin typeface="Arial Black"/>
                <a:ea typeface="Arial Black"/>
                <a:cs typeface="Arial Black"/>
                <a:sym typeface="Arial Black"/>
              </a:rPr>
              <a:t>5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0"/>
          <p:cNvSpPr/>
          <p:nvPr/>
        </p:nvSpPr>
        <p:spPr>
          <a:xfrm>
            <a:off x="10237622" y="1892808"/>
            <a:ext cx="14666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DC2626"/>
                </a:solidFill>
                <a:latin typeface="Courier New"/>
                <a:ea typeface="Courier New"/>
                <a:cs typeface="Courier New"/>
                <a:sym typeface="Courier New"/>
              </a:rPr>
              <a:t>DDOS GATE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0"/>
          <p:cNvSpPr/>
          <p:nvPr/>
        </p:nvSpPr>
        <p:spPr>
          <a:xfrm>
            <a:off x="10237622" y="2148840"/>
            <a:ext cx="146669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Per-IP burst + EWMA spike-mode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0"/>
          <p:cNvSpPr/>
          <p:nvPr/>
        </p:nvSpPr>
        <p:spPr>
          <a:xfrm>
            <a:off x="365760" y="2724912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inbound  →  gates run in order  ·  first short-circuit wins  ·  passed requests fall through to the detector chain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0"/>
          <p:cNvSpPr/>
          <p:nvPr/>
        </p:nvSpPr>
        <p:spPr>
          <a:xfrm>
            <a:off x="365760" y="3154680"/>
            <a:ext cx="5897880" cy="32004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0"/>
          <p:cNvSpPr/>
          <p:nvPr/>
        </p:nvSpPr>
        <p:spPr>
          <a:xfrm>
            <a:off x="365760" y="3154680"/>
            <a:ext cx="54864" cy="320040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0"/>
          <p:cNvSpPr/>
          <p:nvPr/>
        </p:nvSpPr>
        <p:spPr>
          <a:xfrm>
            <a:off x="594360" y="3291840"/>
            <a:ext cx="5532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DC2626"/>
                </a:solidFill>
                <a:latin typeface="Courier New"/>
                <a:ea typeface="Courier New"/>
                <a:cs typeface="Courier New"/>
                <a:sym typeface="Courier New"/>
              </a:rPr>
              <a:t>GATE #5  ·  DDOS DETAIL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0"/>
          <p:cNvSpPr/>
          <p:nvPr/>
        </p:nvSpPr>
        <p:spPr>
          <a:xfrm>
            <a:off x="594360" y="3611880"/>
            <a:ext cx="5532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Per-IP sliding-window burst  +  EWMA global spike-mode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0"/>
          <p:cNvSpPr/>
          <p:nvPr/>
        </p:nvSpPr>
        <p:spPr>
          <a:xfrm>
            <a:off x="594360" y="4023360"/>
            <a:ext cx="54864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925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Per-IP burst counter — `burst.limit` per `burst.window` → 403 + audit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EWMA global RPS ticker — α-smoothed mean; spike if ratio &gt; `spike.factor`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Spike-mode tightens block_score for tiers ≥ HIGH (single-node v1)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Cluster-wide broadcast via Redis deferred behind ha-clustering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Hot-disable from dashboard — no restart, audit-chained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0"/>
          <p:cNvSpPr/>
          <p:nvPr/>
        </p:nvSpPr>
        <p:spPr>
          <a:xfrm>
            <a:off x="6400800" y="3154680"/>
            <a:ext cx="5394960" cy="16002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0"/>
          <p:cNvSpPr/>
          <p:nvPr/>
        </p:nvSpPr>
        <p:spPr>
          <a:xfrm>
            <a:off x="6400800" y="3154680"/>
            <a:ext cx="54864" cy="160020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0"/>
          <p:cNvSpPr/>
          <p:nvPr/>
        </p:nvSpPr>
        <p:spPr>
          <a:xfrm>
            <a:off x="6583680" y="326440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DEFAULT POLICY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0"/>
          <p:cNvSpPr/>
          <p:nvPr/>
        </p:nvSpPr>
        <p:spPr>
          <a:xfrm>
            <a:off x="6629400" y="3611880"/>
            <a:ext cx="49834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access_list:  { enabled: true }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strike_block: { enabled: false, at: 1_000_000 }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risk:         { challenge_at: 99998, block_at: 99999 }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rate_limit:   { per_ip: { rpm: 600 } }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ddos:         { burst: 200/1s, spike: 4.0x/10s }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0"/>
          <p:cNvSpPr/>
          <p:nvPr/>
        </p:nvSpPr>
        <p:spPr>
          <a:xfrm>
            <a:off x="6400800" y="4846320"/>
            <a:ext cx="5394960" cy="15087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0"/>
          <p:cNvSpPr/>
          <p:nvPr/>
        </p:nvSpPr>
        <p:spPr>
          <a:xfrm>
            <a:off x="6400800" y="4846320"/>
            <a:ext cx="54864" cy="1508760"/>
          </a:xfrm>
          <a:prstGeom prst="rect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0"/>
          <p:cNvSpPr/>
          <p:nvPr/>
        </p:nvSpPr>
        <p:spPr>
          <a:xfrm>
            <a:off x="6583680" y="495604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RESPONSE ON BLOCK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0"/>
          <p:cNvSpPr/>
          <p:nvPr/>
        </p:nvSpPr>
        <p:spPr>
          <a:xfrm>
            <a:off x="6583680" y="5230368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v2.5 interop contract  ·  X-WAF-* headers on every response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0"/>
          <p:cNvSpPr/>
          <p:nvPr/>
        </p:nvSpPr>
        <p:spPr>
          <a:xfrm>
            <a:off x="6629400" y="5623560"/>
            <a:ext cx="4983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HTTP/1.1 403 Forbidden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X-WAF-Action:      block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X-WAF-Reason:      ddos.burst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X-WAF-Rule-Id:     ddos.burst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ourier New"/>
              <a:buNone/>
            </a:pPr>
            <a:r>
              <a:rPr lang="en-US" sz="10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X-WAF-Decision-Id: 01HZE...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10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CONTROL PLANE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1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Aegis WAF Console  ·  18+ pages  ·  audit-mutated everything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1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React 18 SPA bundled into the binary. CSP `script-src 'self'`, no CDN, no unsafe-eval.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1"/>
          <p:cNvSpPr/>
          <p:nvPr/>
        </p:nvSpPr>
        <p:spPr>
          <a:xfrm>
            <a:off x="365760" y="1828800"/>
            <a:ext cx="7680960" cy="466344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1"/>
          <p:cNvSpPr/>
          <p:nvPr/>
        </p:nvSpPr>
        <p:spPr>
          <a:xfrm>
            <a:off x="594360" y="196596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PAGE INVENTORY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1"/>
          <p:cNvSpPr/>
          <p:nvPr/>
        </p:nvSpPr>
        <p:spPr>
          <a:xfrm>
            <a:off x="640080" y="52578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AI COPILOT  ·  beta  ·  advisory, opt-in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1"/>
          <p:cNvSpPr/>
          <p:nvPr/>
        </p:nvSpPr>
        <p:spPr>
          <a:xfrm>
            <a:off x="640080" y="23317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SECURITY OPS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1"/>
          <p:cNvSpPr/>
          <p:nvPr/>
        </p:nvSpPr>
        <p:spPr>
          <a:xfrm>
            <a:off x="640080" y="2788920"/>
            <a:ext cx="128016" cy="128016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1"/>
          <p:cNvSpPr/>
          <p:nvPr/>
        </p:nvSpPr>
        <p:spPr>
          <a:xfrm>
            <a:off x="841248" y="2697480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1"/>
          <p:cNvSpPr/>
          <p:nvPr/>
        </p:nvSpPr>
        <p:spPr>
          <a:xfrm>
            <a:off x="640080" y="5596128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LLM situational briefs + smart-catch triage over the WAF's own telemetry — advisory only; cluster-aware (LLM_ENABLED + provider keys).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1"/>
          <p:cNvSpPr/>
          <p:nvPr/>
        </p:nvSpPr>
        <p:spPr>
          <a:xfrm>
            <a:off x="640080" y="3172968"/>
            <a:ext cx="128016" cy="128016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1"/>
          <p:cNvSpPr/>
          <p:nvPr/>
        </p:nvSpPr>
        <p:spPr>
          <a:xfrm>
            <a:off x="841248" y="3081528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Live Feed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1"/>
          <p:cNvSpPr/>
          <p:nvPr/>
        </p:nvSpPr>
        <p:spPr>
          <a:xfrm>
            <a:off x="640080" y="3557016"/>
            <a:ext cx="128016" cy="128016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1"/>
          <p:cNvSpPr/>
          <p:nvPr/>
        </p:nvSpPr>
        <p:spPr>
          <a:xfrm>
            <a:off x="841248" y="3465576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Incidents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1"/>
          <p:cNvSpPr/>
          <p:nvPr/>
        </p:nvSpPr>
        <p:spPr>
          <a:xfrm>
            <a:off x="640080" y="3941064"/>
            <a:ext cx="128016" cy="128016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1"/>
          <p:cNvSpPr/>
          <p:nvPr/>
        </p:nvSpPr>
        <p:spPr>
          <a:xfrm>
            <a:off x="841248" y="3849624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Investigation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1"/>
          <p:cNvSpPr/>
          <p:nvPr/>
        </p:nvSpPr>
        <p:spPr>
          <a:xfrm>
            <a:off x="640080" y="4325112"/>
            <a:ext cx="128016" cy="128016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1"/>
          <p:cNvSpPr/>
          <p:nvPr/>
        </p:nvSpPr>
        <p:spPr>
          <a:xfrm>
            <a:off x="640080" y="4709160"/>
            <a:ext cx="128016" cy="128016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1"/>
          <p:cNvSpPr/>
          <p:nvPr/>
        </p:nvSpPr>
        <p:spPr>
          <a:xfrm>
            <a:off x="841248" y="4233672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Top Attackers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1"/>
          <p:cNvSpPr/>
          <p:nvPr/>
        </p:nvSpPr>
        <p:spPr>
          <a:xfrm>
            <a:off x="841248" y="4617720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AI Copilot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1"/>
          <p:cNvSpPr/>
          <p:nvPr/>
        </p:nvSpPr>
        <p:spPr>
          <a:xfrm>
            <a:off x="2423160" y="23317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POLICY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1"/>
          <p:cNvSpPr/>
          <p:nvPr/>
        </p:nvSpPr>
        <p:spPr>
          <a:xfrm>
            <a:off x="2423160" y="2788920"/>
            <a:ext cx="128016" cy="128016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1"/>
          <p:cNvSpPr/>
          <p:nvPr/>
        </p:nvSpPr>
        <p:spPr>
          <a:xfrm>
            <a:off x="2624328" y="2697480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Routing &amp; Upstreams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1"/>
          <p:cNvSpPr/>
          <p:nvPr/>
        </p:nvSpPr>
        <p:spPr>
          <a:xfrm>
            <a:off x="2423160" y="3172968"/>
            <a:ext cx="128016" cy="128016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1"/>
          <p:cNvSpPr/>
          <p:nvPr/>
        </p:nvSpPr>
        <p:spPr>
          <a:xfrm>
            <a:off x="2624328" y="3081528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Traffic Gates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1"/>
          <p:cNvSpPr/>
          <p:nvPr/>
        </p:nvSpPr>
        <p:spPr>
          <a:xfrm>
            <a:off x="2423160" y="3557016"/>
            <a:ext cx="128016" cy="128016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1"/>
          <p:cNvSpPr/>
          <p:nvPr/>
        </p:nvSpPr>
        <p:spPr>
          <a:xfrm>
            <a:off x="2624328" y="3465576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Access Lists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1"/>
          <p:cNvSpPr/>
          <p:nvPr/>
        </p:nvSpPr>
        <p:spPr>
          <a:xfrm>
            <a:off x="2423160" y="3941064"/>
            <a:ext cx="128016" cy="128016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1"/>
          <p:cNvSpPr/>
          <p:nvPr/>
        </p:nvSpPr>
        <p:spPr>
          <a:xfrm>
            <a:off x="2624328" y="3849624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Detectors &amp; Tiers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1"/>
          <p:cNvSpPr/>
          <p:nvPr/>
        </p:nvSpPr>
        <p:spPr>
          <a:xfrm>
            <a:off x="2423160" y="4325112"/>
            <a:ext cx="128016" cy="128016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1"/>
          <p:cNvSpPr/>
          <p:nvPr/>
        </p:nvSpPr>
        <p:spPr>
          <a:xfrm>
            <a:off x="2423160" y="4709160"/>
            <a:ext cx="128016" cy="128016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1"/>
          <p:cNvSpPr/>
          <p:nvPr/>
        </p:nvSpPr>
        <p:spPr>
          <a:xfrm>
            <a:off x="2624328" y="4233672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Rules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1"/>
          <p:cNvSpPr/>
          <p:nvPr/>
        </p:nvSpPr>
        <p:spPr>
          <a:xfrm>
            <a:off x="2624328" y="4617720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Zero Trust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1"/>
          <p:cNvSpPr/>
          <p:nvPr/>
        </p:nvSpPr>
        <p:spPr>
          <a:xfrm>
            <a:off x="4206240" y="23317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OBSERVABILITY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1"/>
          <p:cNvSpPr/>
          <p:nvPr/>
        </p:nvSpPr>
        <p:spPr>
          <a:xfrm>
            <a:off x="4206240" y="2788920"/>
            <a:ext cx="128016" cy="12801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1"/>
          <p:cNvSpPr/>
          <p:nvPr/>
        </p:nvSpPr>
        <p:spPr>
          <a:xfrm>
            <a:off x="4407408" y="2697480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1"/>
          <p:cNvSpPr/>
          <p:nvPr/>
        </p:nvSpPr>
        <p:spPr>
          <a:xfrm>
            <a:off x="4206240" y="3172968"/>
            <a:ext cx="128016" cy="12801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1"/>
          <p:cNvSpPr/>
          <p:nvPr/>
        </p:nvSpPr>
        <p:spPr>
          <a:xfrm>
            <a:off x="4407408" y="3081528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Health &amp; SLOs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1"/>
          <p:cNvSpPr/>
          <p:nvPr/>
        </p:nvSpPr>
        <p:spPr>
          <a:xfrm>
            <a:off x="4206240" y="3557016"/>
            <a:ext cx="128016" cy="12801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1"/>
          <p:cNvSpPr/>
          <p:nvPr/>
        </p:nvSpPr>
        <p:spPr>
          <a:xfrm>
            <a:off x="4407408" y="3465576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Audit Trail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1"/>
          <p:cNvSpPr/>
          <p:nvPr/>
        </p:nvSpPr>
        <p:spPr>
          <a:xfrm>
            <a:off x="4206240" y="3941064"/>
            <a:ext cx="128016" cy="128016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1"/>
          <p:cNvSpPr/>
          <p:nvPr/>
        </p:nvSpPr>
        <p:spPr>
          <a:xfrm>
            <a:off x="4407408" y="3849624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Scaling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1"/>
          <p:cNvSpPr/>
          <p:nvPr/>
        </p:nvSpPr>
        <p:spPr>
          <a:xfrm>
            <a:off x="5989320" y="23317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1"/>
          <p:cNvSpPr/>
          <p:nvPr/>
        </p:nvSpPr>
        <p:spPr>
          <a:xfrm>
            <a:off x="5989320" y="2788920"/>
            <a:ext cx="128016" cy="128016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1"/>
          <p:cNvSpPr/>
          <p:nvPr/>
        </p:nvSpPr>
        <p:spPr>
          <a:xfrm>
            <a:off x="6190488" y="2697480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Settings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1"/>
          <p:cNvSpPr/>
          <p:nvPr/>
        </p:nvSpPr>
        <p:spPr>
          <a:xfrm>
            <a:off x="5989320" y="3172968"/>
            <a:ext cx="128016" cy="128016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1"/>
          <p:cNvSpPr/>
          <p:nvPr/>
        </p:nvSpPr>
        <p:spPr>
          <a:xfrm>
            <a:off x="6190488" y="3081528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Reports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1"/>
          <p:cNvSpPr/>
          <p:nvPr/>
        </p:nvSpPr>
        <p:spPr>
          <a:xfrm>
            <a:off x="5989320" y="3557016"/>
            <a:ext cx="128016" cy="128016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1"/>
          <p:cNvSpPr/>
          <p:nvPr/>
        </p:nvSpPr>
        <p:spPr>
          <a:xfrm>
            <a:off x="6190488" y="3465576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Help &amp; Guide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1"/>
          <p:cNvSpPr/>
          <p:nvPr/>
        </p:nvSpPr>
        <p:spPr>
          <a:xfrm>
            <a:off x="8229600" y="1828800"/>
            <a:ext cx="3566160" cy="22860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1"/>
          <p:cNvSpPr/>
          <p:nvPr/>
        </p:nvSpPr>
        <p:spPr>
          <a:xfrm>
            <a:off x="8229600" y="1828800"/>
            <a:ext cx="54864" cy="2286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1"/>
          <p:cNvSpPr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AUTH — DEFENSE IN DEPTH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1"/>
          <p:cNvSpPr/>
          <p:nvPr/>
        </p:nvSpPr>
        <p:spPr>
          <a:xfrm>
            <a:off x="8458200" y="2331720"/>
            <a:ext cx="320040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IP allow-list (CIDR)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20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Optional mTLS client cert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20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argon2id password hash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20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TOTP (RFC 6238)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20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HMAC session cookie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20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CSRF double-submit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20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Per-IP / per-user rate + lockout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1"/>
          <p:cNvSpPr/>
          <p:nvPr/>
        </p:nvSpPr>
        <p:spPr>
          <a:xfrm>
            <a:off x="8229600" y="4251960"/>
            <a:ext cx="3566160" cy="224028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1"/>
          <p:cNvSpPr/>
          <p:nvPr/>
        </p:nvSpPr>
        <p:spPr>
          <a:xfrm>
            <a:off x="8229600" y="4251960"/>
            <a:ext cx="54864" cy="224028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1"/>
          <p:cNvSpPr/>
          <p:nvPr/>
        </p:nvSpPr>
        <p:spPr>
          <a:xfrm>
            <a:off x="8412480" y="438912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AUDIT CHAIN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1"/>
          <p:cNvSpPr/>
          <p:nvPr/>
        </p:nvSpPr>
        <p:spPr>
          <a:xfrm>
            <a:off x="8412480" y="470916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SHA-256 hash-chained NDJSON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1"/>
          <p:cNvSpPr/>
          <p:nvPr/>
        </p:nvSpPr>
        <p:spPr>
          <a:xfrm>
            <a:off x="8458200" y="5074920"/>
            <a:ext cx="320040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Daily rotation + retention TTL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20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8 SIEM sinks  ·  CEF · LEEF · OCSF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20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Tamper-evident  ·  witness export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20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`waf audit verify --from &lt;p&gt;`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1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11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1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2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OBSERVABILITY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Prometheus  ·  OTel  ·  Grafana  ·  Live Feed SSE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2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Every decision is a counter, every span is a trace, every audit event streams to the dashboard in </a:t>
            </a: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real time</a:t>
            </a: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2"/>
          <p:cNvSpPr/>
          <p:nvPr/>
        </p:nvSpPr>
        <p:spPr>
          <a:xfrm>
            <a:off x="365760" y="1828800"/>
            <a:ext cx="3703320" cy="27432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2"/>
          <p:cNvSpPr/>
          <p:nvPr/>
        </p:nvSpPr>
        <p:spPr>
          <a:xfrm>
            <a:off x="365760" y="1828800"/>
            <a:ext cx="54864" cy="27432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2"/>
          <p:cNvSpPr/>
          <p:nvPr/>
        </p:nvSpPr>
        <p:spPr>
          <a:xfrm>
            <a:off x="594360" y="1965960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PROMETHEUS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2"/>
          <p:cNvSpPr/>
          <p:nvPr/>
        </p:nvSpPr>
        <p:spPr>
          <a:xfrm>
            <a:off x="594360" y="2267712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/metrics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2"/>
          <p:cNvSpPr/>
          <p:nvPr/>
        </p:nvSpPr>
        <p:spPr>
          <a:xfrm>
            <a:off x="594360" y="2679192"/>
            <a:ext cx="33375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2425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Per-decision counters (allow / block / challenge)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Per-stage request-duration histogram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Per-route latency  ·  per-detector hits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Audit-event counter  ·  pool health gauges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Runtime: workers · blocking pool · I/O fds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2"/>
          <p:cNvSpPr/>
          <p:nvPr/>
        </p:nvSpPr>
        <p:spPr>
          <a:xfrm>
            <a:off x="4206240" y="1828800"/>
            <a:ext cx="3703320" cy="27432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2"/>
          <p:cNvSpPr/>
          <p:nvPr/>
        </p:nvSpPr>
        <p:spPr>
          <a:xfrm>
            <a:off x="4206240" y="1828800"/>
            <a:ext cx="54864" cy="2743200"/>
          </a:xfrm>
          <a:prstGeom prst="rect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2"/>
          <p:cNvSpPr/>
          <p:nvPr/>
        </p:nvSpPr>
        <p:spPr>
          <a:xfrm>
            <a:off x="4434840" y="1965960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OPENTELEMETRY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12"/>
          <p:cNvSpPr/>
          <p:nvPr/>
        </p:nvSpPr>
        <p:spPr>
          <a:xfrm>
            <a:off x="4434840" y="2267712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OTLP gRPC  ·  `otel` feature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2"/>
          <p:cNvSpPr/>
          <p:nvPr/>
        </p:nvSpPr>
        <p:spPr>
          <a:xfrm>
            <a:off x="4434840" y="2679192"/>
            <a:ext cx="33375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2425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#[tracing::instrument] on every hot-path span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Jaeger parent-child traces per request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Span tags: decision-id, tier, detector, rule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Trace context propagated to upstream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Drop-in to existing collector / Tempo / Honeycomb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2"/>
          <p:cNvSpPr/>
          <p:nvPr/>
        </p:nvSpPr>
        <p:spPr>
          <a:xfrm>
            <a:off x="8046720" y="1828800"/>
            <a:ext cx="3703320" cy="27432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2"/>
          <p:cNvSpPr/>
          <p:nvPr/>
        </p:nvSpPr>
        <p:spPr>
          <a:xfrm>
            <a:off x="8046720" y="1828800"/>
            <a:ext cx="54864" cy="274320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2"/>
          <p:cNvSpPr/>
          <p:nvPr/>
        </p:nvSpPr>
        <p:spPr>
          <a:xfrm>
            <a:off x="8275320" y="1965960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DASHBOARDS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2"/>
          <p:cNvSpPr/>
          <p:nvPr/>
        </p:nvSpPr>
        <p:spPr>
          <a:xfrm>
            <a:off x="8275320" y="2267712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Grafana/Signoz  ·  `make obs-up`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12"/>
          <p:cNvSpPr/>
          <p:nvPr/>
        </p:nvSpPr>
        <p:spPr>
          <a:xfrm>
            <a:off x="8275320" y="2679192"/>
            <a:ext cx="33375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2425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WAF Overview board — RPS, blocks, latency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Runtime board — workers, mem, fd, GC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Redis board — counters, leases, replication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All file-provisioned — versioned with the repo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Jaeger at :16686 if `otel` feature enabled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12"/>
          <p:cNvSpPr/>
          <p:nvPr/>
        </p:nvSpPr>
        <p:spPr>
          <a:xfrm>
            <a:off x="365760" y="4754880"/>
            <a:ext cx="11430000" cy="17373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12"/>
          <p:cNvSpPr/>
          <p:nvPr/>
        </p:nvSpPr>
        <p:spPr>
          <a:xfrm>
            <a:off x="365760" y="4754880"/>
            <a:ext cx="54864" cy="173736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12"/>
          <p:cNvSpPr/>
          <p:nvPr/>
        </p:nvSpPr>
        <p:spPr>
          <a:xfrm>
            <a:off x="594360" y="4892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LIVE FEED  ·  /dashboard/sse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2"/>
          <p:cNvSpPr/>
          <p:nvPr/>
        </p:nvSpPr>
        <p:spPr>
          <a:xfrm>
            <a:off x="594360" y="521208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Every audit event streams to the dashboard.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12"/>
          <p:cNvSpPr/>
          <p:nvPr/>
        </p:nvSpPr>
        <p:spPr>
          <a:xfrm>
            <a:off x="594360" y="5715000"/>
            <a:ext cx="10972800" cy="59436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2"/>
          <p:cNvSpPr/>
          <p:nvPr/>
        </p:nvSpPr>
        <p:spPr>
          <a:xfrm>
            <a:off x="731520" y="5715000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22:00:57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2"/>
          <p:cNvSpPr/>
          <p:nvPr/>
        </p:nvSpPr>
        <p:spPr>
          <a:xfrm>
            <a:off x="1371600" y="5715000"/>
            <a:ext cx="1188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218.92.0.158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2"/>
          <p:cNvSpPr/>
          <p:nvPr/>
        </p:nvSpPr>
        <p:spPr>
          <a:xfrm>
            <a:off x="2560320" y="5715000"/>
            <a:ext cx="1005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12"/>
          <p:cNvSpPr/>
          <p:nvPr/>
        </p:nvSpPr>
        <p:spPr>
          <a:xfrm>
            <a:off x="3566160" y="571500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http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12"/>
          <p:cNvSpPr/>
          <p:nvPr/>
        </p:nvSpPr>
        <p:spPr>
          <a:xfrm>
            <a:off x="4297680" y="5715000"/>
            <a:ext cx="23774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/?q=1' OR '1'='1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2"/>
          <p:cNvSpPr/>
          <p:nvPr/>
        </p:nvSpPr>
        <p:spPr>
          <a:xfrm>
            <a:off x="6675120" y="5715000"/>
            <a:ext cx="5486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CN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12"/>
          <p:cNvSpPr/>
          <p:nvPr/>
        </p:nvSpPr>
        <p:spPr>
          <a:xfrm>
            <a:off x="7223760" y="571500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HIGH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12"/>
          <p:cNvSpPr/>
          <p:nvPr/>
        </p:nvSpPr>
        <p:spPr>
          <a:xfrm>
            <a:off x="7955280" y="5715000"/>
            <a:ext cx="914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RISK 82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2"/>
          <p:cNvSpPr/>
          <p:nvPr/>
        </p:nvSpPr>
        <p:spPr>
          <a:xfrm>
            <a:off x="8869680" y="5715000"/>
            <a:ext cx="914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BLOCK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12"/>
          <p:cNvSpPr/>
          <p:nvPr/>
        </p:nvSpPr>
        <p:spPr>
          <a:xfrm>
            <a:off x="9784080" y="5715000"/>
            <a:ext cx="1920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sqli.union, recon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12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2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12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13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HA &amp; SCALING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13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Three-layer model  ·  in-node → across nodes → shared state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1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All three layers ship today — Layer 2 HA cluster is now live: N peers behind one VIP with shared config versioning + Redis leader lease.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13"/>
          <p:cNvSpPr/>
          <p:nvPr/>
        </p:nvSpPr>
        <p:spPr>
          <a:xfrm>
            <a:off x="365760" y="1691640"/>
            <a:ext cx="11430000" cy="13716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13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13"/>
          <p:cNvSpPr/>
          <p:nvPr/>
        </p:nvSpPr>
        <p:spPr>
          <a:xfrm>
            <a:off x="640080" y="2011680"/>
            <a:ext cx="777240" cy="777240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13"/>
          <p:cNvSpPr/>
          <p:nvPr/>
        </p:nvSpPr>
        <p:spPr>
          <a:xfrm>
            <a:off x="640080" y="201168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0B0F1A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13"/>
          <p:cNvSpPr/>
          <p:nvPr/>
        </p:nvSpPr>
        <p:spPr>
          <a:xfrm>
            <a:off x="1645920" y="18562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LAYER 1  ·  IN-NODE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3"/>
          <p:cNvSpPr/>
          <p:nvPr/>
        </p:nvSpPr>
        <p:spPr>
          <a:xfrm>
            <a:off x="1645920" y="21488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700"/>
              <a:buFont typeface="Calibri"/>
              <a:buNone/>
            </a:pPr>
            <a:r>
              <a:rPr b="1" lang="en-US" sz="17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tokio workers + CPU affinity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13"/>
          <p:cNvSpPr/>
          <p:nvPr/>
        </p:nvSpPr>
        <p:spPr>
          <a:xfrm>
            <a:off x="1645920" y="2532888"/>
            <a:ext cx="6949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runtime.workers — multi-thread tokio runtime built at boot. `affinity` feature pins workers to cores. Restart-only — worker_threads is fixed once the runtime is built.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13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13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KNOB  runtime.workers · cpu_affinity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3"/>
          <p:cNvSpPr/>
          <p:nvPr/>
        </p:nvSpPr>
        <p:spPr>
          <a:xfrm>
            <a:off x="8138160" y="2286000"/>
            <a:ext cx="3383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urier New"/>
              <a:buNone/>
            </a:pPr>
            <a:r>
              <a:rPr i="1" lang="en-US" sz="10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→ docs/operations/runtime-tuning.md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13"/>
          <p:cNvSpPr/>
          <p:nvPr/>
        </p:nvSpPr>
        <p:spPr>
          <a:xfrm>
            <a:off x="365760" y="3227832"/>
            <a:ext cx="11430000" cy="13716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3"/>
          <p:cNvSpPr/>
          <p:nvPr/>
        </p:nvSpPr>
        <p:spPr>
          <a:xfrm>
            <a:off x="365760" y="3227832"/>
            <a:ext cx="54864" cy="1371600"/>
          </a:xfrm>
          <a:prstGeom prst="rect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3"/>
          <p:cNvSpPr/>
          <p:nvPr/>
        </p:nvSpPr>
        <p:spPr>
          <a:xfrm>
            <a:off x="640080" y="3547872"/>
            <a:ext cx="777240" cy="777240"/>
          </a:xfrm>
          <a:prstGeom prst="ellipse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13"/>
          <p:cNvSpPr/>
          <p:nvPr/>
        </p:nvSpPr>
        <p:spPr>
          <a:xfrm>
            <a:off x="640080" y="3547872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0B0F1A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3"/>
          <p:cNvSpPr/>
          <p:nvPr/>
        </p:nvSpPr>
        <p:spPr>
          <a:xfrm>
            <a:off x="1645920" y="339242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LAYER 2  ·  ACROSS NODES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13"/>
          <p:cNvSpPr/>
          <p:nvPr/>
        </p:nvSpPr>
        <p:spPr>
          <a:xfrm>
            <a:off x="1645920" y="3685032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700"/>
              <a:buFont typeface="Calibri"/>
              <a:buNone/>
            </a:pPr>
            <a:r>
              <a:rPr b="1" lang="en-US" sz="17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N peers behind a single VIP · LIVE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3"/>
          <p:cNvSpPr/>
          <p:nvPr/>
        </p:nvSpPr>
        <p:spPr>
          <a:xfrm>
            <a:off x="1645920" y="4069080"/>
            <a:ext cx="6949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Live 2-node fleet (waf-a + waf-b) behind one VIP · per-node heartbeat + drain (readiness → 503).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Shared config versioning — every peer converges to one version (v117, reported in-sync per node).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Redis leader lease runs singleton work (TI refresh · ACME · alerts) on a single node.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3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13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KNOB  node.id  ·  state.redis  ·  external LB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3"/>
          <p:cNvSpPr/>
          <p:nvPr/>
        </p:nvSpPr>
        <p:spPr>
          <a:xfrm>
            <a:off x="8138160" y="3822192"/>
            <a:ext cx="3383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urier New"/>
              <a:buNone/>
            </a:pPr>
            <a:r>
              <a:rPr i="1" lang="en-US" sz="10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→ docs/operations/ha-clustering.md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13"/>
          <p:cNvSpPr/>
          <p:nvPr/>
        </p:nvSpPr>
        <p:spPr>
          <a:xfrm>
            <a:off x="365760" y="4764024"/>
            <a:ext cx="11430000" cy="13716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3"/>
          <p:cNvSpPr/>
          <p:nvPr/>
        </p:nvSpPr>
        <p:spPr>
          <a:xfrm>
            <a:off x="365760" y="4764024"/>
            <a:ext cx="54864" cy="137160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13"/>
          <p:cNvSpPr/>
          <p:nvPr/>
        </p:nvSpPr>
        <p:spPr>
          <a:xfrm>
            <a:off x="640080" y="5084064"/>
            <a:ext cx="777240" cy="777240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13"/>
          <p:cNvSpPr/>
          <p:nvPr/>
        </p:nvSpPr>
        <p:spPr>
          <a:xfrm>
            <a:off x="640080" y="5084064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0B0F1A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3"/>
          <p:cNvSpPr/>
          <p:nvPr/>
        </p:nvSpPr>
        <p:spPr>
          <a:xfrm>
            <a:off x="1645920" y="4928616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LAYER 3  ·  STATE BACKEND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13"/>
          <p:cNvSpPr/>
          <p:nvPr/>
        </p:nvSpPr>
        <p:spPr>
          <a:xfrm>
            <a:off x="1645920" y="5221224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700"/>
              <a:buFont typeface="Calibri"/>
              <a:buNone/>
            </a:pPr>
            <a:r>
              <a:rPr b="1" lang="en-US" sz="17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Redis-backed shared state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13"/>
          <p:cNvSpPr/>
          <p:nvPr/>
        </p:nvSpPr>
        <p:spPr>
          <a:xfrm>
            <a:off x="1645920" y="5605272"/>
            <a:ext cx="6949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None/>
            </a:pPr>
            <a:r>
              <a:rPr lang="en-US" sz="12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Counters, leases, block lists. Same shape across dev &amp; prod — local in-mem swap-out for tests. Token bucket + sliding-window rate-limit, leader lease via Lua, atomic CAS for config-version pins.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13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13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KNOB  state.backend: redis  ·  state.redis.url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3"/>
          <p:cNvSpPr/>
          <p:nvPr/>
        </p:nvSpPr>
        <p:spPr>
          <a:xfrm>
            <a:off x="8138160" y="5358384"/>
            <a:ext cx="3383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urier New"/>
              <a:buNone/>
            </a:pPr>
            <a:r>
              <a:rPr i="1" lang="en-US" sz="10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→ Architecture.md §12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13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13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13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694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14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4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USER GUIDE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4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Quick start  ·  three commands  ·  ~2 min cold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4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Local dev — `make run-dev` boots the WAF + Redis + mock upstream. The Makefile pulls Redis automatically the first time.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4"/>
          <p:cNvSpPr/>
          <p:nvPr/>
        </p:nvSpPr>
        <p:spPr>
          <a:xfrm>
            <a:off x="365760" y="1691640"/>
            <a:ext cx="6766560" cy="13716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4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4"/>
          <p:cNvSpPr/>
          <p:nvPr/>
        </p:nvSpPr>
        <p:spPr>
          <a:xfrm>
            <a:off x="594360" y="178308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14"/>
          <p:cNvSpPr/>
          <p:nvPr/>
        </p:nvSpPr>
        <p:spPr>
          <a:xfrm>
            <a:off x="594360" y="2039112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700"/>
              <a:buFont typeface="Courier New"/>
              <a:buNone/>
            </a:pPr>
            <a:r>
              <a:rPr b="1" lang="en-US" sz="17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$ make setup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14"/>
          <p:cNvSpPr/>
          <p:nvPr/>
        </p:nvSpPr>
        <p:spPr>
          <a:xfrm>
            <a:off x="594360" y="2514600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Dev TLS cert  +  release build  ·  cold ~2 min · warm ~10 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4"/>
          <p:cNvSpPr/>
          <p:nvPr/>
        </p:nvSpPr>
        <p:spPr>
          <a:xfrm>
            <a:off x="365760" y="3200400"/>
            <a:ext cx="6766560" cy="13716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4"/>
          <p:cNvSpPr/>
          <p:nvPr/>
        </p:nvSpPr>
        <p:spPr>
          <a:xfrm>
            <a:off x="365760" y="3200400"/>
            <a:ext cx="54864" cy="13716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14"/>
          <p:cNvSpPr/>
          <p:nvPr/>
        </p:nvSpPr>
        <p:spPr>
          <a:xfrm>
            <a:off x="594360" y="329184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STEP 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14"/>
          <p:cNvSpPr/>
          <p:nvPr/>
        </p:nvSpPr>
        <p:spPr>
          <a:xfrm>
            <a:off x="594360" y="3547872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700"/>
              <a:buFont typeface="Courier New"/>
              <a:buNone/>
            </a:pPr>
            <a:r>
              <a:rPr b="1" lang="en-US" sz="17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$ make run-dev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14"/>
          <p:cNvSpPr/>
          <p:nvPr/>
        </p:nvSpPr>
        <p:spPr>
          <a:xfrm>
            <a:off x="594360" y="4023360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Boots WAF + Redis + mock upstream  ·  features: redis, geoip, alerts, ai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14"/>
          <p:cNvSpPr/>
          <p:nvPr/>
        </p:nvSpPr>
        <p:spPr>
          <a:xfrm>
            <a:off x="365760" y="4709160"/>
            <a:ext cx="6766560" cy="13716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14"/>
          <p:cNvSpPr/>
          <p:nvPr/>
        </p:nvSpPr>
        <p:spPr>
          <a:xfrm>
            <a:off x="365760" y="4709160"/>
            <a:ext cx="54864" cy="13716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14"/>
          <p:cNvSpPr/>
          <p:nvPr/>
        </p:nvSpPr>
        <p:spPr>
          <a:xfrm>
            <a:off x="594360" y="480060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STEP 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4"/>
          <p:cNvSpPr/>
          <p:nvPr/>
        </p:nvSpPr>
        <p:spPr>
          <a:xfrm>
            <a:off x="594360" y="5056632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700"/>
              <a:buFont typeface="Courier New"/>
              <a:buNone/>
            </a:pPr>
            <a:r>
              <a:rPr b="1" lang="en-US" sz="17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$ make urls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4"/>
          <p:cNvSpPr/>
          <p:nvPr/>
        </p:nvSpPr>
        <p:spPr>
          <a:xfrm>
            <a:off x="594360" y="5532120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Prints every URL + log path  ·  copy-paste into browser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14"/>
          <p:cNvSpPr/>
          <p:nvPr/>
        </p:nvSpPr>
        <p:spPr>
          <a:xfrm>
            <a:off x="7315200" y="1691640"/>
            <a:ext cx="4480560" cy="214884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14"/>
          <p:cNvSpPr/>
          <p:nvPr/>
        </p:nvSpPr>
        <p:spPr>
          <a:xfrm>
            <a:off x="7315200" y="1691640"/>
            <a:ext cx="54864" cy="214884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14"/>
          <p:cNvSpPr/>
          <p:nvPr/>
        </p:nvSpPr>
        <p:spPr>
          <a:xfrm>
            <a:off x="7498080" y="1828800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BOOT OUTPUT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14"/>
          <p:cNvSpPr/>
          <p:nvPr/>
        </p:nvSpPr>
        <p:spPr>
          <a:xfrm>
            <a:off x="7543800" y="2148840"/>
            <a:ext cx="4114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data-plane listening on 0.0.0.0:8443 (tls=true)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data-plane listening on 0.0.0.0:8080 (tls=false)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admin-plane listening on 127.0.0.1:9443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AI detector wired into the chain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  model_path=.../waf_model.onnx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14"/>
          <p:cNvSpPr/>
          <p:nvPr/>
        </p:nvSpPr>
        <p:spPr>
          <a:xfrm>
            <a:off x="7315200" y="3977640"/>
            <a:ext cx="4480560" cy="23317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14"/>
          <p:cNvSpPr/>
          <p:nvPr/>
        </p:nvSpPr>
        <p:spPr>
          <a:xfrm>
            <a:off x="7315200" y="3977640"/>
            <a:ext cx="54864" cy="233172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14"/>
          <p:cNvSpPr/>
          <p:nvPr/>
        </p:nvSpPr>
        <p:spPr>
          <a:xfrm>
            <a:off x="7498080" y="4087368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OPEN THE DASHBOARD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4"/>
          <p:cNvSpPr/>
          <p:nvPr/>
        </p:nvSpPr>
        <p:spPr>
          <a:xfrm>
            <a:off x="7498080" y="4389120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ourier New"/>
              <a:buNone/>
            </a:pPr>
            <a:r>
              <a:rPr b="1" lang="en-US" sz="15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http://127.0.0.1:9443/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4"/>
          <p:cNvSpPr/>
          <p:nvPr/>
        </p:nvSpPr>
        <p:spPr>
          <a:xfrm>
            <a:off x="7498080" y="48920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ourier New"/>
              <a:buNone/>
            </a:pPr>
            <a:r>
              <a:rPr lang="en-US" sz="13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user:     </a:t>
            </a:r>
            <a:r>
              <a:rPr b="1" lang="en-US" sz="13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ourier New"/>
              <a:buNone/>
            </a:pPr>
            <a:r>
              <a:rPr lang="en-US" sz="13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password: </a:t>
            </a:r>
            <a:r>
              <a:rPr b="1" lang="en-US" sz="13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aegis-test-1234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4"/>
          <p:cNvSpPr/>
          <p:nvPr/>
        </p:nvSpPr>
        <p:spPr>
          <a:xfrm>
            <a:off x="7498080" y="576072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Rotate before exposing admin port:  `waf admin set-password`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1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14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14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5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15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DASHBOARD TOUR  ·  1 / 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15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Overview  +  Live Feed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15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Real-time KPIs, world-map geolocation of blocked requests, every audit event streamed over SSE.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15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15"/>
          <p:cNvSpPr/>
          <p:nvPr/>
        </p:nvSpPr>
        <p:spPr>
          <a:xfrm>
            <a:off x="548640" y="19202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OVERVIEW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15"/>
          <p:cNvSpPr/>
          <p:nvPr/>
        </p:nvSpPr>
        <p:spPr>
          <a:xfrm>
            <a:off x="548640" y="2194560"/>
            <a:ext cx="5349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Realtime WAF traffic monitoring  ·  last update 1s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15"/>
          <p:cNvSpPr/>
          <p:nvPr/>
        </p:nvSpPr>
        <p:spPr>
          <a:xfrm>
            <a:off x="548640" y="2606040"/>
            <a:ext cx="1259586" cy="9144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5"/>
          <p:cNvSpPr/>
          <p:nvPr/>
        </p:nvSpPr>
        <p:spPr>
          <a:xfrm>
            <a:off x="640080" y="2679192"/>
            <a:ext cx="1076706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Requests / 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15"/>
          <p:cNvSpPr/>
          <p:nvPr/>
        </p:nvSpPr>
        <p:spPr>
          <a:xfrm>
            <a:off x="621792" y="2880360"/>
            <a:ext cx="11132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400"/>
              <a:buFont typeface="Courier New"/>
              <a:buNone/>
            </a:pPr>
            <a:r>
              <a:rPr b="1" lang="en-US" sz="24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0.0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15"/>
          <p:cNvSpPr/>
          <p:nvPr/>
        </p:nvSpPr>
        <p:spPr>
          <a:xfrm>
            <a:off x="1881378" y="2606040"/>
            <a:ext cx="1259586" cy="9144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15"/>
          <p:cNvSpPr/>
          <p:nvPr/>
        </p:nvSpPr>
        <p:spPr>
          <a:xfrm>
            <a:off x="1972818" y="2679192"/>
            <a:ext cx="1076706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Block rate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15"/>
          <p:cNvSpPr/>
          <p:nvPr/>
        </p:nvSpPr>
        <p:spPr>
          <a:xfrm>
            <a:off x="1954530" y="2880360"/>
            <a:ext cx="11132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2400"/>
              <a:buFont typeface="Courier New"/>
              <a:buNone/>
            </a:pPr>
            <a:r>
              <a:rPr b="1" lang="en-US" sz="240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0.0%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15"/>
          <p:cNvSpPr/>
          <p:nvPr/>
        </p:nvSpPr>
        <p:spPr>
          <a:xfrm>
            <a:off x="3214116" y="2606040"/>
            <a:ext cx="1259586" cy="9144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15"/>
          <p:cNvSpPr/>
          <p:nvPr/>
        </p:nvSpPr>
        <p:spPr>
          <a:xfrm>
            <a:off x="3305556" y="2679192"/>
            <a:ext cx="1076706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Active threats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15"/>
          <p:cNvSpPr/>
          <p:nvPr/>
        </p:nvSpPr>
        <p:spPr>
          <a:xfrm>
            <a:off x="3287268" y="2880360"/>
            <a:ext cx="11132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2400"/>
              <a:buFont typeface="Courier New"/>
              <a:buNone/>
            </a:pPr>
            <a:r>
              <a:rPr b="1" lang="en-US" sz="24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15"/>
          <p:cNvSpPr/>
          <p:nvPr/>
        </p:nvSpPr>
        <p:spPr>
          <a:xfrm>
            <a:off x="4546854" y="2606040"/>
            <a:ext cx="1259586" cy="9144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15"/>
          <p:cNvSpPr/>
          <p:nvPr/>
        </p:nvSpPr>
        <p:spPr>
          <a:xfrm>
            <a:off x="4638294" y="2679192"/>
            <a:ext cx="1076706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Upstream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15"/>
          <p:cNvSpPr/>
          <p:nvPr/>
        </p:nvSpPr>
        <p:spPr>
          <a:xfrm>
            <a:off x="4620006" y="2880360"/>
            <a:ext cx="11132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800"/>
              <a:buFont typeface="Courier New"/>
              <a:buNone/>
            </a:pPr>
            <a:r>
              <a:rPr b="1" lang="en-US" sz="18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Healthy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15"/>
          <p:cNvSpPr/>
          <p:nvPr/>
        </p:nvSpPr>
        <p:spPr>
          <a:xfrm>
            <a:off x="548640" y="3703320"/>
            <a:ext cx="5349240" cy="2606040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15"/>
          <p:cNvSpPr/>
          <p:nvPr/>
        </p:nvSpPr>
        <p:spPr>
          <a:xfrm>
            <a:off x="640080" y="3776472"/>
            <a:ext cx="5257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Live attack origins  ·  last 60s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15"/>
          <p:cNvSpPr/>
          <p:nvPr/>
        </p:nvSpPr>
        <p:spPr>
          <a:xfrm>
            <a:off x="640080" y="4069080"/>
            <a:ext cx="5257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900"/>
              <a:buFont typeface="Courier New"/>
              <a:buNone/>
            </a:pPr>
            <a:r>
              <a:rPr lang="en-US" sz="90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1 ACTIVE SOURCE   ·   365 blocked total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15"/>
          <p:cNvSpPr/>
          <p:nvPr/>
        </p:nvSpPr>
        <p:spPr>
          <a:xfrm>
            <a:off x="1005840" y="5166360"/>
            <a:ext cx="640080" cy="36576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15"/>
          <p:cNvSpPr/>
          <p:nvPr/>
        </p:nvSpPr>
        <p:spPr>
          <a:xfrm>
            <a:off x="1737360" y="4892040"/>
            <a:ext cx="457200" cy="27432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15"/>
          <p:cNvSpPr/>
          <p:nvPr/>
        </p:nvSpPr>
        <p:spPr>
          <a:xfrm>
            <a:off x="2286000" y="4800600"/>
            <a:ext cx="822960" cy="45720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15"/>
          <p:cNvSpPr/>
          <p:nvPr/>
        </p:nvSpPr>
        <p:spPr>
          <a:xfrm>
            <a:off x="3200400" y="5074920"/>
            <a:ext cx="548640" cy="36576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15"/>
          <p:cNvSpPr/>
          <p:nvPr/>
        </p:nvSpPr>
        <p:spPr>
          <a:xfrm>
            <a:off x="3749040" y="5257800"/>
            <a:ext cx="457200" cy="27432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15"/>
          <p:cNvSpPr/>
          <p:nvPr/>
        </p:nvSpPr>
        <p:spPr>
          <a:xfrm>
            <a:off x="4206240" y="4892040"/>
            <a:ext cx="640080" cy="45720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15"/>
          <p:cNvSpPr/>
          <p:nvPr/>
        </p:nvSpPr>
        <p:spPr>
          <a:xfrm>
            <a:off x="4937760" y="5166360"/>
            <a:ext cx="548640" cy="36576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15"/>
          <p:cNvSpPr/>
          <p:nvPr/>
        </p:nvSpPr>
        <p:spPr>
          <a:xfrm>
            <a:off x="1280160" y="5715000"/>
            <a:ext cx="365760" cy="27432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15"/>
          <p:cNvSpPr/>
          <p:nvPr/>
        </p:nvSpPr>
        <p:spPr>
          <a:xfrm>
            <a:off x="2834640" y="5715000"/>
            <a:ext cx="274320" cy="18288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15"/>
          <p:cNvSpPr/>
          <p:nvPr/>
        </p:nvSpPr>
        <p:spPr>
          <a:xfrm>
            <a:off x="4937760" y="5806440"/>
            <a:ext cx="365760" cy="274320"/>
          </a:xfrm>
          <a:prstGeom prst="rect">
            <a:avLst/>
          </a:prstGeom>
          <a:solidFill>
            <a:srgbClr val="2A3441">
              <a:alpha val="50196"/>
            </a:srgbClr>
          </a:solidFill>
          <a:ln cap="flat" cmpd="sng" w="12700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15"/>
          <p:cNvSpPr/>
          <p:nvPr/>
        </p:nvSpPr>
        <p:spPr>
          <a:xfrm>
            <a:off x="4526280" y="5120640"/>
            <a:ext cx="164592" cy="164592"/>
          </a:xfrm>
          <a:prstGeom prst="ellipse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15"/>
          <p:cNvSpPr/>
          <p:nvPr/>
        </p:nvSpPr>
        <p:spPr>
          <a:xfrm>
            <a:off x="4389120" y="49377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700"/>
              <a:buFont typeface="Courier New"/>
              <a:buNone/>
            </a:pPr>
            <a:r>
              <a:rPr b="1" lang="en-US" sz="7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SG-1 EDGE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15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15"/>
          <p:cNvSpPr/>
          <p:nvPr/>
        </p:nvSpPr>
        <p:spPr>
          <a:xfrm>
            <a:off x="6583680" y="19202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LIVE FEED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15"/>
          <p:cNvSpPr/>
          <p:nvPr/>
        </p:nvSpPr>
        <p:spPr>
          <a:xfrm>
            <a:off x="6583680" y="219456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streaming via SSE  ·  CONNECTED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15"/>
          <p:cNvSpPr/>
          <p:nvPr/>
        </p:nvSpPr>
        <p:spPr>
          <a:xfrm>
            <a:off x="6537960" y="2542032"/>
            <a:ext cx="521208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15"/>
          <p:cNvSpPr/>
          <p:nvPr/>
        </p:nvSpPr>
        <p:spPr>
          <a:xfrm>
            <a:off x="6583680" y="25420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15"/>
          <p:cNvSpPr/>
          <p:nvPr/>
        </p:nvSpPr>
        <p:spPr>
          <a:xfrm>
            <a:off x="7223760" y="2542032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IP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15"/>
          <p:cNvSpPr/>
          <p:nvPr/>
        </p:nvSpPr>
        <p:spPr>
          <a:xfrm>
            <a:off x="8138160" y="2542032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METHOD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15"/>
          <p:cNvSpPr/>
          <p:nvPr/>
        </p:nvSpPr>
        <p:spPr>
          <a:xfrm>
            <a:off x="8641080" y="2542032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PATH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15"/>
          <p:cNvSpPr/>
          <p:nvPr/>
        </p:nvSpPr>
        <p:spPr>
          <a:xfrm>
            <a:off x="9738360" y="2542032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TIER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15"/>
          <p:cNvSpPr/>
          <p:nvPr/>
        </p:nvSpPr>
        <p:spPr>
          <a:xfrm>
            <a:off x="10424160" y="25420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ACTION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15"/>
          <p:cNvSpPr/>
          <p:nvPr/>
        </p:nvSpPr>
        <p:spPr>
          <a:xfrm>
            <a:off x="11064240" y="25420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RULES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15"/>
          <p:cNvSpPr/>
          <p:nvPr/>
        </p:nvSpPr>
        <p:spPr>
          <a:xfrm>
            <a:off x="6583680" y="283464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22:00:57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15"/>
          <p:cNvSpPr/>
          <p:nvPr/>
        </p:nvSpPr>
        <p:spPr>
          <a:xfrm>
            <a:off x="7223760" y="2834640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218.92.0.158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15"/>
          <p:cNvSpPr/>
          <p:nvPr/>
        </p:nvSpPr>
        <p:spPr>
          <a:xfrm>
            <a:off x="8138160" y="2834640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15"/>
          <p:cNvSpPr/>
          <p:nvPr/>
        </p:nvSpPr>
        <p:spPr>
          <a:xfrm>
            <a:off x="8641080" y="2834640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/?q=1' OR ...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15"/>
          <p:cNvSpPr/>
          <p:nvPr/>
        </p:nvSpPr>
        <p:spPr>
          <a:xfrm>
            <a:off x="9738360" y="2834640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HIGH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15"/>
          <p:cNvSpPr/>
          <p:nvPr/>
        </p:nvSpPr>
        <p:spPr>
          <a:xfrm>
            <a:off x="10424160" y="283464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BLOCK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15"/>
          <p:cNvSpPr/>
          <p:nvPr/>
        </p:nvSpPr>
        <p:spPr>
          <a:xfrm>
            <a:off x="11064240" y="283464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sqli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15"/>
          <p:cNvSpPr/>
          <p:nvPr/>
        </p:nvSpPr>
        <p:spPr>
          <a:xfrm>
            <a:off x="6537960" y="3127248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cap="flat" cmpd="sng" w="12700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5"/>
          <p:cNvSpPr/>
          <p:nvPr/>
        </p:nvSpPr>
        <p:spPr>
          <a:xfrm>
            <a:off x="6583680" y="312724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22:00:56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15"/>
          <p:cNvSpPr/>
          <p:nvPr/>
        </p:nvSpPr>
        <p:spPr>
          <a:xfrm>
            <a:off x="7223760" y="3127248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45.155.205.10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15"/>
          <p:cNvSpPr/>
          <p:nvPr/>
        </p:nvSpPr>
        <p:spPr>
          <a:xfrm>
            <a:off x="8138160" y="3127248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15"/>
          <p:cNvSpPr/>
          <p:nvPr/>
        </p:nvSpPr>
        <p:spPr>
          <a:xfrm>
            <a:off x="8641080" y="3127248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/?q=&lt;script&gt;...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5"/>
          <p:cNvSpPr/>
          <p:nvPr/>
        </p:nvSpPr>
        <p:spPr>
          <a:xfrm>
            <a:off x="9738360" y="3127248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HIGH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15"/>
          <p:cNvSpPr/>
          <p:nvPr/>
        </p:nvSpPr>
        <p:spPr>
          <a:xfrm>
            <a:off x="10424160" y="312724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BLOCK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15"/>
          <p:cNvSpPr/>
          <p:nvPr/>
        </p:nvSpPr>
        <p:spPr>
          <a:xfrm>
            <a:off x="11064240" y="312724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xss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15"/>
          <p:cNvSpPr/>
          <p:nvPr/>
        </p:nvSpPr>
        <p:spPr>
          <a:xfrm>
            <a:off x="6583680" y="3419856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22:00:56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15"/>
          <p:cNvSpPr/>
          <p:nvPr/>
        </p:nvSpPr>
        <p:spPr>
          <a:xfrm>
            <a:off x="7223760" y="3419856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185.220.101.5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15"/>
          <p:cNvSpPr/>
          <p:nvPr/>
        </p:nvSpPr>
        <p:spPr>
          <a:xfrm>
            <a:off x="8138160" y="3419856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15"/>
          <p:cNvSpPr/>
          <p:nvPr/>
        </p:nvSpPr>
        <p:spPr>
          <a:xfrm>
            <a:off x="8641080" y="3419856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/../../etc/...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15"/>
          <p:cNvSpPr/>
          <p:nvPr/>
        </p:nvSpPr>
        <p:spPr>
          <a:xfrm>
            <a:off x="9738360" y="3419856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HIGH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15"/>
          <p:cNvSpPr/>
          <p:nvPr/>
        </p:nvSpPr>
        <p:spPr>
          <a:xfrm>
            <a:off x="10424160" y="3419856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BLOCK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15"/>
          <p:cNvSpPr/>
          <p:nvPr/>
        </p:nvSpPr>
        <p:spPr>
          <a:xfrm>
            <a:off x="11064240" y="3419856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trav.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15"/>
          <p:cNvSpPr/>
          <p:nvPr/>
        </p:nvSpPr>
        <p:spPr>
          <a:xfrm>
            <a:off x="6537960" y="3712464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cap="flat" cmpd="sng" w="12700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15"/>
          <p:cNvSpPr/>
          <p:nvPr/>
        </p:nvSpPr>
        <p:spPr>
          <a:xfrm>
            <a:off x="6583680" y="371246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22:00:55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15"/>
          <p:cNvSpPr/>
          <p:nvPr/>
        </p:nvSpPr>
        <p:spPr>
          <a:xfrm>
            <a:off x="7223760" y="3712464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203.0.113.45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15"/>
          <p:cNvSpPr/>
          <p:nvPr/>
        </p:nvSpPr>
        <p:spPr>
          <a:xfrm>
            <a:off x="8138160" y="3712464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15"/>
          <p:cNvSpPr/>
          <p:nvPr/>
        </p:nvSpPr>
        <p:spPr>
          <a:xfrm>
            <a:off x="8641080" y="3712464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/?cmd=$(cat...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15"/>
          <p:cNvSpPr/>
          <p:nvPr/>
        </p:nvSpPr>
        <p:spPr>
          <a:xfrm>
            <a:off x="9738360" y="3712464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DC2626"/>
                </a:solidFill>
                <a:latin typeface="Courier New"/>
                <a:ea typeface="Courier New"/>
                <a:cs typeface="Courier New"/>
                <a:sym typeface="Courier New"/>
              </a:rPr>
              <a:t>CRITICAL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15"/>
          <p:cNvSpPr/>
          <p:nvPr/>
        </p:nvSpPr>
        <p:spPr>
          <a:xfrm>
            <a:off x="10424160" y="371246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BLOCK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15"/>
          <p:cNvSpPr/>
          <p:nvPr/>
        </p:nvSpPr>
        <p:spPr>
          <a:xfrm>
            <a:off x="11064240" y="371246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cmd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15"/>
          <p:cNvSpPr/>
          <p:nvPr/>
        </p:nvSpPr>
        <p:spPr>
          <a:xfrm>
            <a:off x="6583680" y="400507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22:00:55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15"/>
          <p:cNvSpPr/>
          <p:nvPr/>
        </p:nvSpPr>
        <p:spPr>
          <a:xfrm>
            <a:off x="7223760" y="4005072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8.8.8.8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15"/>
          <p:cNvSpPr/>
          <p:nvPr/>
        </p:nvSpPr>
        <p:spPr>
          <a:xfrm>
            <a:off x="8138160" y="4005072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15"/>
          <p:cNvSpPr/>
          <p:nvPr/>
        </p:nvSpPr>
        <p:spPr>
          <a:xfrm>
            <a:off x="8641080" y="4005072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/api/health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15"/>
          <p:cNvSpPr/>
          <p:nvPr/>
        </p:nvSpPr>
        <p:spPr>
          <a:xfrm>
            <a:off x="9738360" y="4005072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LOW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15"/>
          <p:cNvSpPr/>
          <p:nvPr/>
        </p:nvSpPr>
        <p:spPr>
          <a:xfrm>
            <a:off x="10424160" y="400507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ALLOW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15"/>
          <p:cNvSpPr/>
          <p:nvPr/>
        </p:nvSpPr>
        <p:spPr>
          <a:xfrm>
            <a:off x="11064240" y="400507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—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15"/>
          <p:cNvSpPr/>
          <p:nvPr/>
        </p:nvSpPr>
        <p:spPr>
          <a:xfrm>
            <a:off x="6537960" y="4297680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cap="flat" cmpd="sng" w="12700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15"/>
          <p:cNvSpPr/>
          <p:nvPr/>
        </p:nvSpPr>
        <p:spPr>
          <a:xfrm>
            <a:off x="6583680" y="429768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22:00:54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5"/>
          <p:cNvSpPr/>
          <p:nvPr/>
        </p:nvSpPr>
        <p:spPr>
          <a:xfrm>
            <a:off x="7223760" y="4297680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1.1.1.1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15"/>
          <p:cNvSpPr/>
          <p:nvPr/>
        </p:nvSpPr>
        <p:spPr>
          <a:xfrm>
            <a:off x="8138160" y="4297680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" name="Google Shape;817;p15"/>
          <p:cNvSpPr/>
          <p:nvPr/>
        </p:nvSpPr>
        <p:spPr>
          <a:xfrm>
            <a:off x="8641080" y="4297680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/static/app.js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15"/>
          <p:cNvSpPr/>
          <p:nvPr/>
        </p:nvSpPr>
        <p:spPr>
          <a:xfrm>
            <a:off x="9738360" y="4297680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LOW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15"/>
          <p:cNvSpPr/>
          <p:nvPr/>
        </p:nvSpPr>
        <p:spPr>
          <a:xfrm>
            <a:off x="10424160" y="429768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ALLOW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15"/>
          <p:cNvSpPr/>
          <p:nvPr/>
        </p:nvSpPr>
        <p:spPr>
          <a:xfrm>
            <a:off x="11064240" y="429768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—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15"/>
          <p:cNvSpPr/>
          <p:nvPr/>
        </p:nvSpPr>
        <p:spPr>
          <a:xfrm>
            <a:off x="6583680" y="459028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22:00:54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15"/>
          <p:cNvSpPr/>
          <p:nvPr/>
        </p:nvSpPr>
        <p:spPr>
          <a:xfrm>
            <a:off x="7223760" y="4590288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94.142.241.5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15"/>
          <p:cNvSpPr/>
          <p:nvPr/>
        </p:nvSpPr>
        <p:spPr>
          <a:xfrm>
            <a:off x="8138160" y="4590288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15"/>
          <p:cNvSpPr/>
          <p:nvPr/>
        </p:nvSpPr>
        <p:spPr>
          <a:xfrm>
            <a:off x="8641080" y="4590288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/?q=${jndi:...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5"/>
          <p:cNvSpPr/>
          <p:nvPr/>
        </p:nvSpPr>
        <p:spPr>
          <a:xfrm>
            <a:off x="9738360" y="4590288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DC2626"/>
                </a:solidFill>
                <a:latin typeface="Courier New"/>
                <a:ea typeface="Courier New"/>
                <a:cs typeface="Courier New"/>
                <a:sym typeface="Courier New"/>
              </a:rPr>
              <a:t>CRITICAL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15"/>
          <p:cNvSpPr/>
          <p:nvPr/>
        </p:nvSpPr>
        <p:spPr>
          <a:xfrm>
            <a:off x="10424160" y="459028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BLOCK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15"/>
          <p:cNvSpPr/>
          <p:nvPr/>
        </p:nvSpPr>
        <p:spPr>
          <a:xfrm>
            <a:off x="11064240" y="459028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log4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15"/>
          <p:cNvSpPr/>
          <p:nvPr/>
        </p:nvSpPr>
        <p:spPr>
          <a:xfrm>
            <a:off x="6537960" y="4882896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cap="flat" cmpd="sng" w="12700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15"/>
          <p:cNvSpPr/>
          <p:nvPr/>
        </p:nvSpPr>
        <p:spPr>
          <a:xfrm>
            <a:off x="6583680" y="4882896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22:00:53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15"/>
          <p:cNvSpPr/>
          <p:nvPr/>
        </p:nvSpPr>
        <p:spPr>
          <a:xfrm>
            <a:off x="7223760" y="4882896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218.92.0.158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15"/>
          <p:cNvSpPr/>
          <p:nvPr/>
        </p:nvSpPr>
        <p:spPr>
          <a:xfrm>
            <a:off x="8138160" y="4882896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15"/>
          <p:cNvSpPr/>
          <p:nvPr/>
        </p:nvSpPr>
        <p:spPr>
          <a:xfrm>
            <a:off x="8641080" y="4882896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/.git/config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15"/>
          <p:cNvSpPr/>
          <p:nvPr/>
        </p:nvSpPr>
        <p:spPr>
          <a:xfrm>
            <a:off x="9738360" y="4882896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MEDIUM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15"/>
          <p:cNvSpPr/>
          <p:nvPr/>
        </p:nvSpPr>
        <p:spPr>
          <a:xfrm>
            <a:off x="10424160" y="4882896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BLOCK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15"/>
          <p:cNvSpPr/>
          <p:nvPr/>
        </p:nvSpPr>
        <p:spPr>
          <a:xfrm>
            <a:off x="11064240" y="4882896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recon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15"/>
          <p:cNvSpPr/>
          <p:nvPr/>
        </p:nvSpPr>
        <p:spPr>
          <a:xfrm>
            <a:off x="6583680" y="517550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22:00:53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15"/>
          <p:cNvSpPr/>
          <p:nvPr/>
        </p:nvSpPr>
        <p:spPr>
          <a:xfrm>
            <a:off x="7223760" y="5175504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125.209.211.5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15"/>
          <p:cNvSpPr/>
          <p:nvPr/>
        </p:nvSpPr>
        <p:spPr>
          <a:xfrm>
            <a:off x="8138160" y="5175504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15"/>
          <p:cNvSpPr/>
          <p:nvPr/>
        </p:nvSpPr>
        <p:spPr>
          <a:xfrm>
            <a:off x="8641080" y="5175504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/api/v1/users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15"/>
          <p:cNvSpPr/>
          <p:nvPr/>
        </p:nvSpPr>
        <p:spPr>
          <a:xfrm>
            <a:off x="9738360" y="5175504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LOW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" name="Google Shape;841;p15"/>
          <p:cNvSpPr/>
          <p:nvPr/>
        </p:nvSpPr>
        <p:spPr>
          <a:xfrm>
            <a:off x="10424160" y="517550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ALLOW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15"/>
          <p:cNvSpPr/>
          <p:nvPr/>
        </p:nvSpPr>
        <p:spPr>
          <a:xfrm>
            <a:off x="11064240" y="517550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—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15"/>
          <p:cNvSpPr/>
          <p:nvPr/>
        </p:nvSpPr>
        <p:spPr>
          <a:xfrm>
            <a:off x="6537960" y="5468112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cap="flat" cmpd="sng" w="12700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15"/>
          <p:cNvSpPr/>
          <p:nvPr/>
        </p:nvSpPr>
        <p:spPr>
          <a:xfrm>
            <a:off x="6583680" y="546811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22:00:52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15"/>
          <p:cNvSpPr/>
          <p:nvPr/>
        </p:nvSpPr>
        <p:spPr>
          <a:xfrm>
            <a:off x="7223760" y="5468112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5.180.45.5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15"/>
          <p:cNvSpPr/>
          <p:nvPr/>
        </p:nvSpPr>
        <p:spPr>
          <a:xfrm>
            <a:off x="8138160" y="5468112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15"/>
          <p:cNvSpPr/>
          <p:nvPr/>
        </p:nvSpPr>
        <p:spPr>
          <a:xfrm>
            <a:off x="8641080" y="5468112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/?q=__proto__...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15"/>
          <p:cNvSpPr/>
          <p:nvPr/>
        </p:nvSpPr>
        <p:spPr>
          <a:xfrm>
            <a:off x="9738360" y="5468112"/>
            <a:ext cx="685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HIGH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15"/>
          <p:cNvSpPr/>
          <p:nvPr/>
        </p:nvSpPr>
        <p:spPr>
          <a:xfrm>
            <a:off x="10424160" y="546811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850"/>
              <a:buFont typeface="Courier New"/>
              <a:buNone/>
            </a:pPr>
            <a:r>
              <a:rPr b="1" lang="en-US" sz="8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BLOCK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15"/>
          <p:cNvSpPr/>
          <p:nvPr/>
        </p:nvSpPr>
        <p:spPr>
          <a:xfrm>
            <a:off x="11064240" y="546811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body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15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1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15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1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16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DASHBOARD TOUR  ·  2 / 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" name="Google Shape;860;p16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Detectors &amp; Tiers  +  Routing &amp; Upstreams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" name="Google Shape;861;p16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Audit-mutated CRUD — every toggle, every route, every pool change goes through the audit chain. Hot-swap, no restart.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16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16"/>
          <p:cNvSpPr/>
          <p:nvPr/>
        </p:nvSpPr>
        <p:spPr>
          <a:xfrm>
            <a:off x="548640" y="19202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DETECTORS &amp; TIERS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16"/>
          <p:cNvSpPr/>
          <p:nvPr/>
        </p:nvSpPr>
        <p:spPr>
          <a:xfrm>
            <a:off x="548640" y="2286000"/>
            <a:ext cx="5349240" cy="9601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16"/>
          <p:cNvSpPr/>
          <p:nvPr/>
        </p:nvSpPr>
        <p:spPr>
          <a:xfrm>
            <a:off x="685800" y="2359152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AI VERDICT  ·  observe → enforce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16"/>
          <p:cNvSpPr/>
          <p:nvPr/>
        </p:nvSpPr>
        <p:spPr>
          <a:xfrm>
            <a:off x="685800" y="26060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800"/>
              <a:buFont typeface="Arial Black"/>
              <a:buNone/>
            </a:pPr>
            <a:r>
              <a:rPr b="1" lang="en-US" sz="1800">
                <a:solidFill>
                  <a:srgbClr val="FFD541"/>
                </a:solidFill>
                <a:latin typeface="Arial Black"/>
                <a:ea typeface="Arial Black"/>
                <a:cs typeface="Arial Black"/>
                <a:sym typeface="Arial Black"/>
              </a:rPr>
              <a:t>94.3%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16"/>
          <p:cNvSpPr/>
          <p:nvPr/>
        </p:nvSpPr>
        <p:spPr>
          <a:xfrm>
            <a:off x="685800" y="2971800"/>
            <a:ext cx="1280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ACCURACY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16"/>
          <p:cNvSpPr/>
          <p:nvPr/>
        </p:nvSpPr>
        <p:spPr>
          <a:xfrm>
            <a:off x="1984248" y="26060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800"/>
              <a:buFont typeface="Arial Black"/>
              <a:buNone/>
            </a:pPr>
            <a:r>
              <a:rPr b="1" lang="en-US" sz="1800">
                <a:solidFill>
                  <a:srgbClr val="FFD541"/>
                </a:solidFill>
                <a:latin typeface="Arial Black"/>
                <a:ea typeface="Arial Black"/>
                <a:cs typeface="Arial Black"/>
                <a:sym typeface="Arial Black"/>
              </a:rPr>
              <a:t>18.4%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16"/>
          <p:cNvSpPr/>
          <p:nvPr/>
        </p:nvSpPr>
        <p:spPr>
          <a:xfrm>
            <a:off x="1984248" y="2971800"/>
            <a:ext cx="1280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ATTACK RATE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" name="Google Shape;870;p16"/>
          <p:cNvSpPr/>
          <p:nvPr/>
        </p:nvSpPr>
        <p:spPr>
          <a:xfrm>
            <a:off x="3282696" y="26060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800"/>
              <a:buFont typeface="Arial Black"/>
              <a:buNone/>
            </a:pPr>
            <a:r>
              <a:rPr b="1" lang="en-US" sz="1800">
                <a:solidFill>
                  <a:srgbClr val="FFD541"/>
                </a:solidFill>
                <a:latin typeface="Arial Black"/>
                <a:ea typeface="Arial Black"/>
                <a:cs typeface="Arial Black"/>
                <a:sym typeface="Arial Black"/>
              </a:rPr>
              <a:t>0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" name="Google Shape;871;p16"/>
          <p:cNvSpPr/>
          <p:nvPr/>
        </p:nvSpPr>
        <p:spPr>
          <a:xfrm>
            <a:off x="3282696" y="2971800"/>
            <a:ext cx="1280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FALLBACKS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16"/>
          <p:cNvSpPr/>
          <p:nvPr/>
        </p:nvSpPr>
        <p:spPr>
          <a:xfrm>
            <a:off x="4581144" y="26060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800"/>
              <a:buFont typeface="Arial Black"/>
              <a:buNone/>
            </a:pPr>
            <a:r>
              <a:rPr b="1" lang="en-US" sz="1800">
                <a:solidFill>
                  <a:srgbClr val="FFD541"/>
                </a:solidFill>
                <a:latin typeface="Arial Black"/>
                <a:ea typeface="Arial Black"/>
                <a:cs typeface="Arial Black"/>
                <a:sym typeface="Arial Black"/>
              </a:rPr>
              <a:t>0.5ms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" name="Google Shape;873;p16"/>
          <p:cNvSpPr/>
          <p:nvPr/>
        </p:nvSpPr>
        <p:spPr>
          <a:xfrm>
            <a:off x="4581144" y="2971800"/>
            <a:ext cx="1280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P99 LATENCY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16"/>
          <p:cNvSpPr/>
          <p:nvPr/>
        </p:nvSpPr>
        <p:spPr>
          <a:xfrm>
            <a:off x="548640" y="338328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BASE MASK  ·  chip = name · score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16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16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sqli · 40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16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16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xss · 35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16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16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path_traversal · 45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16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16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ssrf · 50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16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16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header_inj · 40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16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" name="Google Shape;886;p16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body_abuse · 60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16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16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DC2626"/>
                </a:solidFill>
                <a:latin typeface="Courier New"/>
                <a:ea typeface="Courier New"/>
                <a:cs typeface="Courier New"/>
                <a:sym typeface="Courier New"/>
              </a:rPr>
              <a:t>cmd_injection · 60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16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16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template_inj · 50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16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" name="Google Shape;892;p16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nosql_inj · 50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16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16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open_redirect · 30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16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" name="Google Shape;896;p16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recon · 30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16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16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velocity · 60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16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0" name="Google Shape;900;p16"/>
          <p:cNvCxnSpPr/>
          <p:nvPr/>
        </p:nvCxnSpPr>
        <p:spPr>
          <a:xfrm>
            <a:off x="731520" y="5276088"/>
            <a:ext cx="1325880" cy="0"/>
          </a:xfrm>
          <a:prstGeom prst="straightConnector1">
            <a:avLst/>
          </a:prstGeom>
          <a:noFill/>
          <a:ln cap="flat" cmpd="sng" w="9525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1" name="Google Shape;901;p16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6B7280"/>
                </a:solidFill>
                <a:latin typeface="Courier New"/>
                <a:ea typeface="Courier New"/>
                <a:cs typeface="Courier New"/>
                <a:sym typeface="Courier New"/>
              </a:rPr>
              <a:t>brute_force · 35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16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3" name="Google Shape;903;p16"/>
          <p:cNvCxnSpPr/>
          <p:nvPr/>
        </p:nvCxnSpPr>
        <p:spPr>
          <a:xfrm>
            <a:off x="2514600" y="5276088"/>
            <a:ext cx="1325880" cy="0"/>
          </a:xfrm>
          <a:prstGeom prst="straightConnector1">
            <a:avLst/>
          </a:prstGeom>
          <a:noFill/>
          <a:ln cap="flat" cmpd="sng" w="9525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4" name="Google Shape;904;p16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6B7280"/>
                </a:solidFill>
                <a:latin typeface="Courier New"/>
                <a:ea typeface="Courier New"/>
                <a:cs typeface="Courier New"/>
                <a:sym typeface="Courier New"/>
              </a:rPr>
              <a:t>canary · 90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16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16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ai · 50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16"/>
          <p:cNvSpPr/>
          <p:nvPr/>
        </p:nvSpPr>
        <p:spPr>
          <a:xfrm>
            <a:off x="548640" y="5623560"/>
            <a:ext cx="1259586" cy="6858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16"/>
          <p:cNvSpPr/>
          <p:nvPr/>
        </p:nvSpPr>
        <p:spPr>
          <a:xfrm>
            <a:off x="548640" y="5715000"/>
            <a:ext cx="125958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DC2626"/>
                </a:solidFill>
                <a:latin typeface="Courier New"/>
                <a:ea typeface="Courier New"/>
                <a:cs typeface="Courier New"/>
                <a:sym typeface="Courier New"/>
              </a:rPr>
              <a:t>CRITICAL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16"/>
          <p:cNvSpPr/>
          <p:nvPr/>
        </p:nvSpPr>
        <p:spPr>
          <a:xfrm>
            <a:off x="548640" y="5943600"/>
            <a:ext cx="125958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block ≥ 50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16"/>
          <p:cNvSpPr/>
          <p:nvPr/>
        </p:nvSpPr>
        <p:spPr>
          <a:xfrm>
            <a:off x="1881378" y="5623560"/>
            <a:ext cx="1259586" cy="6858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" name="Google Shape;911;p16"/>
          <p:cNvSpPr/>
          <p:nvPr/>
        </p:nvSpPr>
        <p:spPr>
          <a:xfrm>
            <a:off x="1881378" y="5715000"/>
            <a:ext cx="125958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F87171"/>
                </a:solidFill>
                <a:latin typeface="Courier New"/>
                <a:ea typeface="Courier New"/>
                <a:cs typeface="Courier New"/>
                <a:sym typeface="Courier New"/>
              </a:rPr>
              <a:t>HIGH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16"/>
          <p:cNvSpPr/>
          <p:nvPr/>
        </p:nvSpPr>
        <p:spPr>
          <a:xfrm>
            <a:off x="1881378" y="5943600"/>
            <a:ext cx="125958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block ≥ 60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16"/>
          <p:cNvSpPr/>
          <p:nvPr/>
        </p:nvSpPr>
        <p:spPr>
          <a:xfrm>
            <a:off x="3214116" y="5623560"/>
            <a:ext cx="1259586" cy="6858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16"/>
          <p:cNvSpPr/>
          <p:nvPr/>
        </p:nvSpPr>
        <p:spPr>
          <a:xfrm>
            <a:off x="3214116" y="5715000"/>
            <a:ext cx="125958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MEDIUM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16"/>
          <p:cNvSpPr/>
          <p:nvPr/>
        </p:nvSpPr>
        <p:spPr>
          <a:xfrm>
            <a:off x="3214116" y="5943600"/>
            <a:ext cx="125958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block ≥ 70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16"/>
          <p:cNvSpPr/>
          <p:nvPr/>
        </p:nvSpPr>
        <p:spPr>
          <a:xfrm>
            <a:off x="4546854" y="5623560"/>
            <a:ext cx="1259586" cy="6858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16"/>
          <p:cNvSpPr/>
          <p:nvPr/>
        </p:nvSpPr>
        <p:spPr>
          <a:xfrm>
            <a:off x="4546854" y="5715000"/>
            <a:ext cx="125958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LOW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16"/>
          <p:cNvSpPr/>
          <p:nvPr/>
        </p:nvSpPr>
        <p:spPr>
          <a:xfrm>
            <a:off x="4546854" y="5943600"/>
            <a:ext cx="125958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block ≥ 80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16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16"/>
          <p:cNvSpPr/>
          <p:nvPr/>
        </p:nvSpPr>
        <p:spPr>
          <a:xfrm>
            <a:off x="6583680" y="19202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ROUTING &amp; UPSTREAMS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16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solidFill>
            <a:srgbClr val="FFD541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16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0F1A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0B0F1A"/>
                </a:solidFill>
                <a:latin typeface="Courier New"/>
                <a:ea typeface="Courier New"/>
                <a:cs typeface="Courier New"/>
                <a:sym typeface="Courier New"/>
              </a:rPr>
              <a:t>+ ADD ROUTE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16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2A3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16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+ ADD POOL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16"/>
          <p:cNvSpPr/>
          <p:nvPr/>
        </p:nvSpPr>
        <p:spPr>
          <a:xfrm>
            <a:off x="6583680" y="22860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ROUTES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" name="Google Shape;926;p16"/>
          <p:cNvSpPr/>
          <p:nvPr/>
        </p:nvSpPr>
        <p:spPr>
          <a:xfrm>
            <a:off x="6583680" y="2560320"/>
            <a:ext cx="5120640" cy="256032"/>
          </a:xfrm>
          <a:prstGeom prst="rect">
            <a:avLst/>
          </a:prstGeom>
          <a:solidFill>
            <a:srgbClr val="11151F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16"/>
          <p:cNvSpPr/>
          <p:nvPr/>
        </p:nvSpPr>
        <p:spPr>
          <a:xfrm>
            <a:off x="6675120" y="256032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PATH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" name="Google Shape;928;p16"/>
          <p:cNvSpPr/>
          <p:nvPr/>
        </p:nvSpPr>
        <p:spPr>
          <a:xfrm>
            <a:off x="7955280" y="2560320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MATCH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16"/>
          <p:cNvSpPr/>
          <p:nvPr/>
        </p:nvSpPr>
        <p:spPr>
          <a:xfrm>
            <a:off x="8641080" y="256032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METHODS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16"/>
          <p:cNvSpPr/>
          <p:nvPr/>
        </p:nvSpPr>
        <p:spPr>
          <a:xfrm>
            <a:off x="9509760" y="256032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UPSTREAM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16"/>
          <p:cNvSpPr/>
          <p:nvPr/>
        </p:nvSpPr>
        <p:spPr>
          <a:xfrm>
            <a:off x="10789920" y="2560320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Courier New"/>
              <a:buNone/>
            </a:pPr>
            <a:r>
              <a:rPr b="1" lang="en-US" sz="8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STATUS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16"/>
          <p:cNvSpPr/>
          <p:nvPr/>
        </p:nvSpPr>
        <p:spPr>
          <a:xfrm>
            <a:off x="6675120" y="281635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16"/>
          <p:cNvSpPr/>
          <p:nvPr/>
        </p:nvSpPr>
        <p:spPr>
          <a:xfrm>
            <a:off x="7955280" y="2816352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prefix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16"/>
          <p:cNvSpPr/>
          <p:nvPr/>
        </p:nvSpPr>
        <p:spPr>
          <a:xfrm>
            <a:off x="8641080" y="281635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GET POST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16"/>
          <p:cNvSpPr/>
          <p:nvPr/>
        </p:nvSpPr>
        <p:spPr>
          <a:xfrm>
            <a:off x="9509760" y="281635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my-backend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16"/>
          <p:cNvSpPr/>
          <p:nvPr/>
        </p:nvSpPr>
        <p:spPr>
          <a:xfrm>
            <a:off x="10789920" y="281635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HEALTHY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16"/>
          <p:cNvSpPr/>
          <p:nvPr/>
        </p:nvSpPr>
        <p:spPr>
          <a:xfrm>
            <a:off x="6583680" y="309067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cap="flat" cmpd="sng" w="12700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16"/>
          <p:cNvSpPr/>
          <p:nvPr/>
        </p:nvSpPr>
        <p:spPr>
          <a:xfrm>
            <a:off x="6675120" y="309067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/api/*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16"/>
          <p:cNvSpPr/>
          <p:nvPr/>
        </p:nvSpPr>
        <p:spPr>
          <a:xfrm>
            <a:off x="7955280" y="3090672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regex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16"/>
          <p:cNvSpPr/>
          <p:nvPr/>
        </p:nvSpPr>
        <p:spPr>
          <a:xfrm>
            <a:off x="8641080" y="309067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16"/>
          <p:cNvSpPr/>
          <p:nvPr/>
        </p:nvSpPr>
        <p:spPr>
          <a:xfrm>
            <a:off x="9509760" y="309067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api-pool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16"/>
          <p:cNvSpPr/>
          <p:nvPr/>
        </p:nvSpPr>
        <p:spPr>
          <a:xfrm>
            <a:off x="10789920" y="30906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HEALTHY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16"/>
          <p:cNvSpPr/>
          <p:nvPr/>
        </p:nvSpPr>
        <p:spPr>
          <a:xfrm>
            <a:off x="6675120" y="336499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/admin/*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16"/>
          <p:cNvSpPr/>
          <p:nvPr/>
        </p:nvSpPr>
        <p:spPr>
          <a:xfrm>
            <a:off x="7955280" y="3364992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prefix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16"/>
          <p:cNvSpPr/>
          <p:nvPr/>
        </p:nvSpPr>
        <p:spPr>
          <a:xfrm>
            <a:off x="8641080" y="336499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16"/>
          <p:cNvSpPr/>
          <p:nvPr/>
        </p:nvSpPr>
        <p:spPr>
          <a:xfrm>
            <a:off x="9509760" y="336499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internal-bk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16"/>
          <p:cNvSpPr/>
          <p:nvPr/>
        </p:nvSpPr>
        <p:spPr>
          <a:xfrm>
            <a:off x="10789920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DEGRADED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16"/>
          <p:cNvSpPr/>
          <p:nvPr/>
        </p:nvSpPr>
        <p:spPr>
          <a:xfrm>
            <a:off x="6583680" y="363931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cap="flat" cmpd="sng" w="12700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16"/>
          <p:cNvSpPr/>
          <p:nvPr/>
        </p:nvSpPr>
        <p:spPr>
          <a:xfrm>
            <a:off x="6675120" y="363931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/static/*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16"/>
          <p:cNvSpPr/>
          <p:nvPr/>
        </p:nvSpPr>
        <p:spPr>
          <a:xfrm>
            <a:off x="7955280" y="3639312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prefix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16"/>
          <p:cNvSpPr/>
          <p:nvPr/>
        </p:nvSpPr>
        <p:spPr>
          <a:xfrm>
            <a:off x="8641080" y="363931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16"/>
          <p:cNvSpPr/>
          <p:nvPr/>
        </p:nvSpPr>
        <p:spPr>
          <a:xfrm>
            <a:off x="9509760" y="363931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cdn-origin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16"/>
          <p:cNvSpPr/>
          <p:nvPr/>
        </p:nvSpPr>
        <p:spPr>
          <a:xfrm>
            <a:off x="10789920" y="363931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950"/>
              <a:buFont typeface="Courier New"/>
              <a:buNone/>
            </a:pPr>
            <a:r>
              <a:rPr b="1" lang="en-US" sz="95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HEALTHY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16"/>
          <p:cNvSpPr/>
          <p:nvPr/>
        </p:nvSpPr>
        <p:spPr>
          <a:xfrm>
            <a:off x="6583680" y="4187952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ourier New"/>
              <a:buNone/>
            </a:pPr>
            <a:r>
              <a:rPr b="1" lang="en-US" sz="9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UPSTREAM POOLS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16"/>
          <p:cNvSpPr/>
          <p:nvPr/>
        </p:nvSpPr>
        <p:spPr>
          <a:xfrm>
            <a:off x="6583680" y="4462272"/>
            <a:ext cx="5120640" cy="41148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16"/>
          <p:cNvSpPr/>
          <p:nvPr/>
        </p:nvSpPr>
        <p:spPr>
          <a:xfrm>
            <a:off x="6675120" y="4599432"/>
            <a:ext cx="146304" cy="146304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16"/>
          <p:cNvSpPr/>
          <p:nvPr/>
        </p:nvSpPr>
        <p:spPr>
          <a:xfrm>
            <a:off x="6903720" y="4462272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my-backend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16"/>
          <p:cNvSpPr/>
          <p:nvPr/>
        </p:nvSpPr>
        <p:spPr>
          <a:xfrm>
            <a:off x="8503920" y="4462272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p2c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" name="Google Shape;959;p16"/>
          <p:cNvSpPr/>
          <p:nvPr/>
        </p:nvSpPr>
        <p:spPr>
          <a:xfrm>
            <a:off x="9875520" y="446227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3 of 3 up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Google Shape;960;p16"/>
          <p:cNvSpPr/>
          <p:nvPr/>
        </p:nvSpPr>
        <p:spPr>
          <a:xfrm>
            <a:off x="6583680" y="4919472"/>
            <a:ext cx="5120640" cy="41148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" name="Google Shape;961;p16"/>
          <p:cNvSpPr/>
          <p:nvPr/>
        </p:nvSpPr>
        <p:spPr>
          <a:xfrm>
            <a:off x="6675120" y="5056632"/>
            <a:ext cx="146304" cy="146304"/>
          </a:xfrm>
          <a:prstGeom prst="ellipse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16"/>
          <p:cNvSpPr/>
          <p:nvPr/>
        </p:nvSpPr>
        <p:spPr>
          <a:xfrm>
            <a:off x="6903720" y="4919472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api-pool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16"/>
          <p:cNvSpPr/>
          <p:nvPr/>
        </p:nvSpPr>
        <p:spPr>
          <a:xfrm>
            <a:off x="8503920" y="4919472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least_conn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16"/>
          <p:cNvSpPr/>
          <p:nvPr/>
        </p:nvSpPr>
        <p:spPr>
          <a:xfrm>
            <a:off x="9875520" y="491947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5 of 5 up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" name="Google Shape;965;p16"/>
          <p:cNvSpPr/>
          <p:nvPr/>
        </p:nvSpPr>
        <p:spPr>
          <a:xfrm>
            <a:off x="6583680" y="5376672"/>
            <a:ext cx="5120640" cy="41148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16"/>
          <p:cNvSpPr/>
          <p:nvPr/>
        </p:nvSpPr>
        <p:spPr>
          <a:xfrm>
            <a:off x="6675120" y="5513832"/>
            <a:ext cx="146304" cy="146304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16"/>
          <p:cNvSpPr/>
          <p:nvPr/>
        </p:nvSpPr>
        <p:spPr>
          <a:xfrm>
            <a:off x="6903720" y="5376672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internal-bk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" name="Google Shape;968;p16"/>
          <p:cNvSpPr/>
          <p:nvPr/>
        </p:nvSpPr>
        <p:spPr>
          <a:xfrm>
            <a:off x="8503920" y="5376672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CA3AF"/>
                </a:solidFill>
                <a:latin typeface="Courier New"/>
                <a:ea typeface="Courier New"/>
                <a:cs typeface="Courier New"/>
                <a:sym typeface="Courier New"/>
              </a:rPr>
              <a:t>round_robin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16"/>
          <p:cNvSpPr/>
          <p:nvPr/>
        </p:nvSpPr>
        <p:spPr>
          <a:xfrm>
            <a:off x="9875520" y="537667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2 of 3 up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" name="Google Shape;970;p16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16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16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17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17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CLI CHEAT SHEET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17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make targets  +  waf CLI  +  benchmark contract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17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Every smoke / load / contract test ships in tests/  ·  one README per subfolder.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17"/>
          <p:cNvSpPr/>
          <p:nvPr/>
        </p:nvSpPr>
        <p:spPr>
          <a:xfrm>
            <a:off x="365760" y="1737360"/>
            <a:ext cx="3703320" cy="40233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17"/>
          <p:cNvSpPr/>
          <p:nvPr/>
        </p:nvSpPr>
        <p:spPr>
          <a:xfrm>
            <a:off x="365760" y="1737360"/>
            <a:ext cx="54864" cy="402336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17"/>
          <p:cNvSpPr/>
          <p:nvPr/>
        </p:nvSpPr>
        <p:spPr>
          <a:xfrm>
            <a:off x="594360" y="1874520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MAKE TARGETS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17"/>
          <p:cNvSpPr/>
          <p:nvPr/>
        </p:nvSpPr>
        <p:spPr>
          <a:xfrm>
            <a:off x="594360" y="2240280"/>
            <a:ext cx="333756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setup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run-dev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run            (prod-balanced)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run-strict     (PCI/HIPAA/SOC2)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run-throughput (CDN front-door)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mock-load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mock-load-attacks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mock-load-mix  (~5k RPS)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obs-up         (Prom+Graf+Jaeger)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bench-dev      (v2.3 contract)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test           (~2,800 tests)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clippy         (-D warnings)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smoke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ci-local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17"/>
          <p:cNvSpPr/>
          <p:nvPr/>
        </p:nvSpPr>
        <p:spPr>
          <a:xfrm>
            <a:off x="4206240" y="1737360"/>
            <a:ext cx="3703320" cy="40233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17"/>
          <p:cNvSpPr/>
          <p:nvPr/>
        </p:nvSpPr>
        <p:spPr>
          <a:xfrm>
            <a:off x="4206240" y="1737360"/>
            <a:ext cx="54864" cy="4023360"/>
          </a:xfrm>
          <a:prstGeom prst="rect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17"/>
          <p:cNvSpPr/>
          <p:nvPr/>
        </p:nvSpPr>
        <p:spPr>
          <a:xfrm>
            <a:off x="4434840" y="1874520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WAF CLI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17"/>
          <p:cNvSpPr/>
          <p:nvPr/>
        </p:nvSpPr>
        <p:spPr>
          <a:xfrm>
            <a:off x="4434840" y="2240280"/>
            <a:ext cx="333756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waf run     --config &lt;path&gt;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waf validate --config &lt;path&gt;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# Audit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waf audit   verify --from &lt;p&gt;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# Admin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waf admin   set-password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waf admin   enroll-totp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# Disaster recovery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waf snapshot --out  &lt;path&gt;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waf restore  --from &lt;path&gt;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waf version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waf help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17"/>
          <p:cNvSpPr/>
          <p:nvPr/>
        </p:nvSpPr>
        <p:spPr>
          <a:xfrm>
            <a:off x="8046720" y="1737360"/>
            <a:ext cx="3703320" cy="40233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17"/>
          <p:cNvSpPr/>
          <p:nvPr/>
        </p:nvSpPr>
        <p:spPr>
          <a:xfrm>
            <a:off x="8046720" y="1737360"/>
            <a:ext cx="54864" cy="402336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17"/>
          <p:cNvSpPr/>
          <p:nvPr/>
        </p:nvSpPr>
        <p:spPr>
          <a:xfrm>
            <a:off x="8275320" y="1874520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BENCHMARK CONTRACT v2.3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17"/>
          <p:cNvSpPr/>
          <p:nvPr/>
        </p:nvSpPr>
        <p:spPr>
          <a:xfrm>
            <a:off x="8275320" y="2240280"/>
            <a:ext cx="333756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# 1. Capabilities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curl -H "X-Benchmark-Secret: $S" \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 /__waf_control/capabilities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# 2. Reset state (atomic)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curl -XPOST -H "X-Benchmark-..." \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 /__waf_control/reset_state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# 3. Toggle SQLi → log_only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curl -XPOST -H ... \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 /__waf_control/set_profile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# 4. Verify X-WAF-* headers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5E7EB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curl -i /?q=1' OR '1'='1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17"/>
          <p:cNvSpPr/>
          <p:nvPr/>
        </p:nvSpPr>
        <p:spPr>
          <a:xfrm>
            <a:off x="365760" y="5897880"/>
            <a:ext cx="11430000" cy="50292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17"/>
          <p:cNvSpPr/>
          <p:nvPr/>
        </p:nvSpPr>
        <p:spPr>
          <a:xfrm>
            <a:off x="365760" y="5897880"/>
            <a:ext cx="54864" cy="50292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17"/>
          <p:cNvSpPr/>
          <p:nvPr/>
        </p:nvSpPr>
        <p:spPr>
          <a:xfrm>
            <a:off x="594360" y="6007608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STUMBLES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17"/>
          <p:cNvSpPr/>
          <p:nvPr/>
        </p:nvSpPr>
        <p:spPr>
          <a:xfrm>
            <a:off x="1828800" y="6007608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port :8443 in use → `lsof -i :8443`  ·  redis refused → `make redis-up`  ·  TLS handshake → `curl -k` (dev cert is self-signed)  ·  full guide → docs/operator/usage.md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17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17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17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18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18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DEPLOY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18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600"/>
              <a:buFont typeface="Arial Black"/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Production checklist  ·  pick a profile  ·  read the docs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18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Distroless multi-arch image · Helm chart · binary handover via fd-passing · ServiceDiscovery watchers.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" name="Google Shape;1008;p18"/>
          <p:cNvSpPr/>
          <p:nvPr/>
        </p:nvSpPr>
        <p:spPr>
          <a:xfrm>
            <a:off x="365760" y="1828800"/>
            <a:ext cx="5715000" cy="320040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" name="Google Shape;1009;p18"/>
          <p:cNvSpPr/>
          <p:nvPr/>
        </p:nvSpPr>
        <p:spPr>
          <a:xfrm>
            <a:off x="365760" y="1828800"/>
            <a:ext cx="54864" cy="320040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18"/>
          <p:cNvSpPr/>
          <p:nvPr/>
        </p:nvSpPr>
        <p:spPr>
          <a:xfrm>
            <a:off x="594360" y="1965960"/>
            <a:ext cx="5349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PICK A PROFILE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" name="Google Shape;1011;p18"/>
          <p:cNvSpPr/>
          <p:nvPr/>
        </p:nvSpPr>
        <p:spPr>
          <a:xfrm>
            <a:off x="594360" y="2377440"/>
            <a:ext cx="5257800" cy="758952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18"/>
          <p:cNvSpPr/>
          <p:nvPr/>
        </p:nvSpPr>
        <p:spPr>
          <a:xfrm>
            <a:off x="594360" y="2377440"/>
            <a:ext cx="64008" cy="758952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18"/>
          <p:cNvSpPr/>
          <p:nvPr/>
        </p:nvSpPr>
        <p:spPr>
          <a:xfrm>
            <a:off x="777240" y="2468880"/>
            <a:ext cx="5166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ourier New"/>
              <a:buNone/>
            </a:pPr>
            <a:r>
              <a:rPr b="1" lang="en-US" sz="14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run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" name="Google Shape;1014;p18"/>
          <p:cNvSpPr/>
          <p:nvPr/>
        </p:nvSpPr>
        <p:spPr>
          <a:xfrm>
            <a:off x="777240" y="274320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961D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B8961D"/>
                </a:solidFill>
                <a:latin typeface="Courier New"/>
                <a:ea typeface="Courier New"/>
                <a:cs typeface="Courier New"/>
                <a:sym typeface="Courier New"/>
              </a:rPr>
              <a:t>→ config/profiles/prod-balanced.yaml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18"/>
          <p:cNvSpPr/>
          <p:nvPr/>
        </p:nvSpPr>
        <p:spPr>
          <a:xfrm>
            <a:off x="777240" y="2926080"/>
            <a:ext cx="5166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production default — 99 % of cases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18"/>
          <p:cNvSpPr/>
          <p:nvPr/>
        </p:nvSpPr>
        <p:spPr>
          <a:xfrm>
            <a:off x="594360" y="3246120"/>
            <a:ext cx="5257800" cy="758952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" name="Google Shape;1017;p18"/>
          <p:cNvSpPr/>
          <p:nvPr/>
        </p:nvSpPr>
        <p:spPr>
          <a:xfrm>
            <a:off x="594360" y="3246120"/>
            <a:ext cx="64008" cy="758952"/>
          </a:xfrm>
          <a:prstGeom prst="rect">
            <a:avLst/>
          </a:prstGeom>
          <a:solidFill>
            <a:srgbClr val="F87171"/>
          </a:solidFill>
          <a:ln cap="flat" cmpd="sng" w="12700">
            <a:solidFill>
              <a:srgbClr val="F871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18"/>
          <p:cNvSpPr/>
          <p:nvPr/>
        </p:nvSpPr>
        <p:spPr>
          <a:xfrm>
            <a:off x="777240" y="3337560"/>
            <a:ext cx="5166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ourier New"/>
              <a:buNone/>
            </a:pPr>
            <a:r>
              <a:rPr b="1" lang="en-US" sz="14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run-strict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18"/>
          <p:cNvSpPr/>
          <p:nvPr/>
        </p:nvSpPr>
        <p:spPr>
          <a:xfrm>
            <a:off x="777240" y="361188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961D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B8961D"/>
                </a:solidFill>
                <a:latin typeface="Courier New"/>
                <a:ea typeface="Courier New"/>
                <a:cs typeface="Courier New"/>
                <a:sym typeface="Courier New"/>
              </a:rPr>
              <a:t>→ config/profiles/prod-strict.yaml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18"/>
          <p:cNvSpPr/>
          <p:nvPr/>
        </p:nvSpPr>
        <p:spPr>
          <a:xfrm>
            <a:off x="777240" y="3794760"/>
            <a:ext cx="5166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PCI · HIPAA · SOC 2 · GDPR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18"/>
          <p:cNvSpPr/>
          <p:nvPr/>
        </p:nvSpPr>
        <p:spPr>
          <a:xfrm>
            <a:off x="594360" y="4114800"/>
            <a:ext cx="5257800" cy="758952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18"/>
          <p:cNvSpPr/>
          <p:nvPr/>
        </p:nvSpPr>
        <p:spPr>
          <a:xfrm>
            <a:off x="594360" y="4114800"/>
            <a:ext cx="64008" cy="758952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18"/>
          <p:cNvSpPr/>
          <p:nvPr/>
        </p:nvSpPr>
        <p:spPr>
          <a:xfrm>
            <a:off x="777240" y="4206240"/>
            <a:ext cx="5166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400"/>
              <a:buFont typeface="Courier New"/>
              <a:buNone/>
            </a:pPr>
            <a:r>
              <a:rPr b="1" lang="en-US" sz="1400">
                <a:solidFill>
                  <a:srgbClr val="E5E7EB"/>
                </a:solidFill>
                <a:latin typeface="Courier New"/>
                <a:ea typeface="Courier New"/>
                <a:cs typeface="Courier New"/>
                <a:sym typeface="Courier New"/>
              </a:rPr>
              <a:t>make run-throughput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" name="Google Shape;1024;p18"/>
          <p:cNvSpPr/>
          <p:nvPr/>
        </p:nvSpPr>
        <p:spPr>
          <a:xfrm>
            <a:off x="777240" y="44805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961D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B8961D"/>
                </a:solidFill>
                <a:latin typeface="Courier New"/>
                <a:ea typeface="Courier New"/>
                <a:cs typeface="Courier New"/>
                <a:sym typeface="Courier New"/>
              </a:rPr>
              <a:t>→ config/profiles/prod-high-throughput.yaml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18"/>
          <p:cNvSpPr/>
          <p:nvPr/>
        </p:nvSpPr>
        <p:spPr>
          <a:xfrm>
            <a:off x="777240" y="4663440"/>
            <a:ext cx="5166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CDN front-door · &gt; 5 k RPS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18"/>
          <p:cNvSpPr/>
          <p:nvPr/>
        </p:nvSpPr>
        <p:spPr>
          <a:xfrm>
            <a:off x="6263640" y="1828800"/>
            <a:ext cx="5532120" cy="15087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p18"/>
          <p:cNvSpPr/>
          <p:nvPr/>
        </p:nvSpPr>
        <p:spPr>
          <a:xfrm>
            <a:off x="6263640" y="1828800"/>
            <a:ext cx="54864" cy="1508760"/>
          </a:xfrm>
          <a:prstGeom prst="rect">
            <a:avLst/>
          </a:prstGeom>
          <a:solidFill>
            <a:srgbClr val="34D399"/>
          </a:solidFill>
          <a:ln cap="flat" cmpd="sng" w="1270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" name="Google Shape;1028;p18"/>
          <p:cNvSpPr/>
          <p:nvPr/>
        </p:nvSpPr>
        <p:spPr>
          <a:xfrm>
            <a:off x="6446520" y="1965960"/>
            <a:ext cx="5257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BUILD IMAGE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18"/>
          <p:cNvSpPr/>
          <p:nvPr/>
        </p:nvSpPr>
        <p:spPr>
          <a:xfrm>
            <a:off x="6492240" y="2286000"/>
            <a:ext cx="5166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300"/>
              <a:buFont typeface="Courier New"/>
              <a:buNone/>
            </a:pPr>
            <a:r>
              <a:rPr b="1" lang="en-US" sz="13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$ bash deploy/docker-build.sh --tag aegis-gate:0.x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18"/>
          <p:cNvSpPr/>
          <p:nvPr/>
        </p:nvSpPr>
        <p:spPr>
          <a:xfrm>
            <a:off x="6492240" y="2670048"/>
            <a:ext cx="5166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Distroless multi-arch image  ·  amd64 + arm64  ·  non-root  ·  ~70 MB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18"/>
          <p:cNvSpPr/>
          <p:nvPr/>
        </p:nvSpPr>
        <p:spPr>
          <a:xfrm>
            <a:off x="6263640" y="3474720"/>
            <a:ext cx="5532120" cy="155448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18"/>
          <p:cNvSpPr/>
          <p:nvPr/>
        </p:nvSpPr>
        <p:spPr>
          <a:xfrm>
            <a:off x="6263640" y="3474720"/>
            <a:ext cx="54864" cy="1554480"/>
          </a:xfrm>
          <a:prstGeom prst="rect">
            <a:avLst/>
          </a:prstGeom>
          <a:solidFill>
            <a:srgbClr val="60A5FA"/>
          </a:solidFill>
          <a:ln cap="flat" cmpd="sng" w="12700">
            <a:solidFill>
              <a:srgbClr val="60A5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" name="Google Shape;1033;p18"/>
          <p:cNvSpPr/>
          <p:nvPr/>
        </p:nvSpPr>
        <p:spPr>
          <a:xfrm>
            <a:off x="6446520" y="3611880"/>
            <a:ext cx="5257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rPr>
              <a:t>HELM INSTALL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" name="Google Shape;1034;p18"/>
          <p:cNvSpPr/>
          <p:nvPr/>
        </p:nvSpPr>
        <p:spPr>
          <a:xfrm>
            <a:off x="6492240" y="3931920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$ helm upgrade --install aegis deploy/helm/aegis-gate \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   --set image.tag=0.x \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34D399"/>
                </a:solidFill>
                <a:latin typeface="Courier New"/>
                <a:ea typeface="Courier New"/>
                <a:cs typeface="Courier New"/>
                <a:sym typeface="Courier New"/>
              </a:rPr>
              <a:t>   --set redis.url=redis://prod-redis:6379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" name="Google Shape;1035;p18"/>
          <p:cNvSpPr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solidFill>
            <a:srgbClr val="151B27"/>
          </a:solidFill>
          <a:ln cap="flat" cmpd="sng" w="9525">
            <a:solidFill>
              <a:srgbClr val="1F29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" name="Google Shape;1036;p18"/>
          <p:cNvSpPr/>
          <p:nvPr/>
        </p:nvSpPr>
        <p:spPr>
          <a:xfrm>
            <a:off x="365760" y="5120640"/>
            <a:ext cx="54864" cy="1280160"/>
          </a:xfrm>
          <a:prstGeom prst="rect">
            <a:avLst/>
          </a:prstGeom>
          <a:solidFill>
            <a:srgbClr val="FFD541"/>
          </a:solidFill>
          <a:ln cap="flat" cmpd="sng" w="12700">
            <a:solidFill>
              <a:srgbClr val="FFD5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" name="Google Shape;1037;p18"/>
          <p:cNvSpPr/>
          <p:nvPr/>
        </p:nvSpPr>
        <p:spPr>
          <a:xfrm>
            <a:off x="594360" y="5257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000"/>
              <a:buFont typeface="Courier New"/>
              <a:buNone/>
            </a:pPr>
            <a:r>
              <a:rPr b="1" lang="en-US" sz="10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DOCUMENTATION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" name="Google Shape;1038;p18"/>
          <p:cNvSpPr/>
          <p:nvPr/>
        </p:nvSpPr>
        <p:spPr>
          <a:xfrm>
            <a:off x="594360" y="562356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→ QUICKSTART.md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18"/>
          <p:cNvSpPr/>
          <p:nvPr/>
        </p:nvSpPr>
        <p:spPr>
          <a:xfrm>
            <a:off x="3977640" y="562356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Happy-path walkthrough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18"/>
          <p:cNvSpPr/>
          <p:nvPr/>
        </p:nvSpPr>
        <p:spPr>
          <a:xfrm>
            <a:off x="6172200" y="562356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→ docs/FEATURES.md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18"/>
          <p:cNvSpPr/>
          <p:nvPr/>
        </p:nvSpPr>
        <p:spPr>
          <a:xfrm>
            <a:off x="9555480" y="562356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Per-feature QC playbook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18"/>
          <p:cNvSpPr/>
          <p:nvPr/>
        </p:nvSpPr>
        <p:spPr>
          <a:xfrm>
            <a:off x="594360" y="5870448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→ docs/security/security-engine.md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18"/>
          <p:cNvSpPr/>
          <p:nvPr/>
        </p:nvSpPr>
        <p:spPr>
          <a:xfrm>
            <a:off x="3977640" y="5870448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Decision walkthrough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" name="Google Shape;1044;p18"/>
          <p:cNvSpPr/>
          <p:nvPr/>
        </p:nvSpPr>
        <p:spPr>
          <a:xfrm>
            <a:off x="6172200" y="5870448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→ docs/operator/soc-runbook.md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18"/>
          <p:cNvSpPr/>
          <p:nvPr/>
        </p:nvSpPr>
        <p:spPr>
          <a:xfrm>
            <a:off x="9555480" y="5870448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SOC runbook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18"/>
          <p:cNvSpPr/>
          <p:nvPr/>
        </p:nvSpPr>
        <p:spPr>
          <a:xfrm>
            <a:off x="594360" y="6117336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→ docs/operator/upstream-cookbook.md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" name="Google Shape;1047;p18"/>
          <p:cNvSpPr/>
          <p:nvPr/>
        </p:nvSpPr>
        <p:spPr>
          <a:xfrm>
            <a:off x="3977640" y="61173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Per-protocol recipes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18"/>
          <p:cNvSpPr/>
          <p:nvPr/>
        </p:nvSpPr>
        <p:spPr>
          <a:xfrm>
            <a:off x="6172200" y="6117336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541"/>
              </a:buClr>
              <a:buSzPts val="1100"/>
              <a:buFont typeface="Courier New"/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→ deploy/GUIDE.md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" name="Google Shape;1049;p18"/>
          <p:cNvSpPr/>
          <p:nvPr/>
        </p:nvSpPr>
        <p:spPr>
          <a:xfrm>
            <a:off x="9555480" y="61173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Production deploy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" name="Google Shape;1050;p18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18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18 / 19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055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p19"/>
          <p:cNvSpPr/>
          <p:nvPr/>
        </p:nvSpPr>
        <p:spPr>
          <a:xfrm>
            <a:off x="0" y="0"/>
            <a:ext cx="73200" cy="6858000"/>
          </a:xfrm>
          <a:prstGeom prst="rect">
            <a:avLst/>
          </a:prstGeom>
          <a:solidFill>
            <a:srgbClr val="FFD5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" name="Google Shape;1057;p19"/>
          <p:cNvSpPr txBox="1"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D541"/>
                </a:solidFill>
                <a:latin typeface="Courier New"/>
                <a:ea typeface="Courier New"/>
                <a:cs typeface="Courier New"/>
                <a:sym typeface="Courier New"/>
              </a:rPr>
              <a:t>ROADMAP</a:t>
            </a:r>
            <a:endParaRPr/>
          </a:p>
        </p:txBody>
      </p:sp>
      <p:sp>
        <p:nvSpPr>
          <p:cNvPr id="1058" name="Google Shape;1058;p19"/>
          <p:cNvSpPr txBox="1"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E5E7EB"/>
                </a:solidFill>
                <a:latin typeface="Arial Black"/>
                <a:ea typeface="Arial Black"/>
                <a:cs typeface="Arial Black"/>
                <a:sym typeface="Arial Black"/>
              </a:rPr>
              <a:t>Where Aegis-Gate goes next</a:t>
            </a:r>
            <a:endParaRPr/>
          </a:p>
        </p:txBody>
      </p:sp>
      <p:sp>
        <p:nvSpPr>
          <p:cNvPr id="1059" name="Google Shape;1059;p19"/>
          <p:cNvSpPr txBox="1"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Graded against the 2025–26 WAAP leaders · capability tiers + an enterprise-readiness foundation track</a:t>
            </a:r>
            <a:endParaRPr/>
          </a:p>
        </p:txBody>
      </p:sp>
      <p:sp>
        <p:nvSpPr>
          <p:cNvPr id="1060" name="Google Shape;1060;p19"/>
          <p:cNvSpPr/>
          <p:nvPr/>
        </p:nvSpPr>
        <p:spPr>
          <a:xfrm>
            <a:off x="338360" y="2408012"/>
            <a:ext cx="3678900" cy="1783200"/>
          </a:xfrm>
          <a:prstGeom prst="rect">
            <a:avLst/>
          </a:prstGeom>
          <a:solidFill>
            <a:srgbClr val="151B27"/>
          </a:solidFill>
          <a:ln cap="flat" cmpd="sng" w="12700">
            <a:solidFill>
              <a:srgbClr val="1F2937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19"/>
          <p:cNvSpPr/>
          <p:nvPr/>
        </p:nvSpPr>
        <p:spPr>
          <a:xfrm>
            <a:off x="338360" y="2408012"/>
            <a:ext cx="54900" cy="1783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" name="Google Shape;1062;p19"/>
          <p:cNvSpPr txBox="1"/>
          <p:nvPr/>
        </p:nvSpPr>
        <p:spPr>
          <a:xfrm>
            <a:off x="557816" y="2554316"/>
            <a:ext cx="32676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A78BFA"/>
                </a:solidFill>
                <a:latin typeface="Courier New"/>
                <a:ea typeface="Courier New"/>
                <a:cs typeface="Courier New"/>
                <a:sym typeface="Courier New"/>
              </a:rPr>
              <a:t>TIER 1  ·  L</a:t>
            </a:r>
            <a:endParaRPr/>
          </a:p>
        </p:txBody>
      </p:sp>
      <p:sp>
        <p:nvSpPr>
          <p:cNvPr id="1063" name="Google Shape;1063;p19"/>
          <p:cNvSpPr txBox="1"/>
          <p:nvPr/>
        </p:nvSpPr>
        <p:spPr>
          <a:xfrm>
            <a:off x="557816" y="2865212"/>
            <a:ext cx="326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Auto ML</a:t>
            </a:r>
            <a:endParaRPr sz="1600"/>
          </a:p>
        </p:txBody>
      </p:sp>
      <p:sp>
        <p:nvSpPr>
          <p:cNvPr id="1064" name="Google Shape;1064;p19"/>
          <p:cNvSpPr txBox="1"/>
          <p:nvPr/>
        </p:nvSpPr>
        <p:spPr>
          <a:xfrm>
            <a:off x="557816" y="3304125"/>
            <a:ext cx="3267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Auto-baseline normal traffic → zero-day anomaly flags.</a:t>
            </a:r>
            <a:endParaRPr/>
          </a:p>
        </p:txBody>
      </p:sp>
      <p:sp>
        <p:nvSpPr>
          <p:cNvPr id="1065" name="Google Shape;1065;p19"/>
          <p:cNvSpPr/>
          <p:nvPr/>
        </p:nvSpPr>
        <p:spPr>
          <a:xfrm>
            <a:off x="4227608" y="2408012"/>
            <a:ext cx="3678900" cy="1783200"/>
          </a:xfrm>
          <a:prstGeom prst="rect">
            <a:avLst/>
          </a:prstGeom>
          <a:solidFill>
            <a:srgbClr val="151B27"/>
          </a:solidFill>
          <a:ln cap="flat" cmpd="sng" w="12700">
            <a:solidFill>
              <a:srgbClr val="1F2937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19"/>
          <p:cNvSpPr/>
          <p:nvPr/>
        </p:nvSpPr>
        <p:spPr>
          <a:xfrm>
            <a:off x="4227608" y="2408012"/>
            <a:ext cx="54900" cy="1783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19"/>
          <p:cNvSpPr txBox="1"/>
          <p:nvPr/>
        </p:nvSpPr>
        <p:spPr>
          <a:xfrm>
            <a:off x="4447064" y="2554316"/>
            <a:ext cx="32676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F59E0B"/>
                </a:solidFill>
                <a:latin typeface="Courier New"/>
                <a:ea typeface="Courier New"/>
                <a:cs typeface="Courier New"/>
                <a:sym typeface="Courier New"/>
              </a:rPr>
              <a:t>TIER 2  ·  M-L</a:t>
            </a:r>
            <a:endParaRPr/>
          </a:p>
        </p:txBody>
      </p:sp>
      <p:sp>
        <p:nvSpPr>
          <p:cNvPr id="1068" name="Google Shape;1068;p19"/>
          <p:cNvSpPr txBox="1"/>
          <p:nvPr/>
        </p:nvSpPr>
        <p:spPr>
          <a:xfrm>
            <a:off x="4447064" y="2865212"/>
            <a:ext cx="326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Analysis &amp; report</a:t>
            </a:r>
            <a:endParaRPr sz="1600"/>
          </a:p>
        </p:txBody>
      </p:sp>
      <p:sp>
        <p:nvSpPr>
          <p:cNvPr id="1069" name="Google Shape;1069;p19"/>
          <p:cNvSpPr txBox="1"/>
          <p:nvPr/>
        </p:nvSpPr>
        <p:spPr>
          <a:xfrm>
            <a:off x="4447064" y="3304125"/>
            <a:ext cx="3267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Tracking &amp; Report about </a:t>
            </a:r>
            <a:r>
              <a:rPr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traffic, security info</a:t>
            </a:r>
            <a:endParaRPr/>
          </a:p>
        </p:txBody>
      </p:sp>
      <p:sp>
        <p:nvSpPr>
          <p:cNvPr id="1070" name="Google Shape;1070;p19"/>
          <p:cNvSpPr/>
          <p:nvPr/>
        </p:nvSpPr>
        <p:spPr>
          <a:xfrm>
            <a:off x="8116856" y="2408012"/>
            <a:ext cx="3678900" cy="1783200"/>
          </a:xfrm>
          <a:prstGeom prst="rect">
            <a:avLst/>
          </a:prstGeom>
          <a:solidFill>
            <a:srgbClr val="151B27"/>
          </a:solidFill>
          <a:ln cap="flat" cmpd="sng" w="12700">
            <a:solidFill>
              <a:srgbClr val="1F2937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19"/>
          <p:cNvSpPr/>
          <p:nvPr/>
        </p:nvSpPr>
        <p:spPr>
          <a:xfrm>
            <a:off x="8116856" y="2408012"/>
            <a:ext cx="54900" cy="1783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2" name="Google Shape;1072;p19"/>
          <p:cNvSpPr txBox="1"/>
          <p:nvPr/>
        </p:nvSpPr>
        <p:spPr>
          <a:xfrm>
            <a:off x="8336312" y="2554316"/>
            <a:ext cx="32676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2D3EE"/>
                </a:solidFill>
                <a:latin typeface="Courier New"/>
                <a:ea typeface="Courier New"/>
                <a:cs typeface="Courier New"/>
                <a:sym typeface="Courier New"/>
              </a:rPr>
              <a:t>FOUNDATION  ·  S→L</a:t>
            </a:r>
            <a:endParaRPr/>
          </a:p>
        </p:txBody>
      </p:sp>
      <p:sp>
        <p:nvSpPr>
          <p:cNvPr id="1073" name="Google Shape;1073;p19"/>
          <p:cNvSpPr txBox="1"/>
          <p:nvPr/>
        </p:nvSpPr>
        <p:spPr>
          <a:xfrm>
            <a:off x="8336312" y="2865212"/>
            <a:ext cx="326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Enterprise ident</a:t>
            </a:r>
            <a:r>
              <a:rPr b="1" lang="en-US" sz="16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1" lang="en-US" sz="135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ty — RBAC &amp; SSO</a:t>
            </a:r>
            <a:endParaRPr/>
          </a:p>
        </p:txBody>
      </p:sp>
      <p:sp>
        <p:nvSpPr>
          <p:cNvPr id="1074" name="Google Shape;1074;p19"/>
          <p:cNvSpPr txBox="1"/>
          <p:nvPr/>
        </p:nvSpPr>
        <p:spPr>
          <a:xfrm>
            <a:off x="8336312" y="3304125"/>
            <a:ext cx="3267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Multi-user accounts, human RBAC, per-user audit, dashboard OIDC SSO.</a:t>
            </a:r>
            <a:endParaRPr/>
          </a:p>
        </p:txBody>
      </p:sp>
      <p:sp>
        <p:nvSpPr>
          <p:cNvPr id="1075" name="Google Shape;1075;p19"/>
          <p:cNvSpPr txBox="1"/>
          <p:nvPr/>
        </p:nvSpPr>
        <p:spPr>
          <a:xfrm>
            <a:off x="365760" y="6528816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Aegis-Gate v0.1.0  ·  WAF &amp; Security Gateway  ·  north-star roadmap</a:t>
            </a:r>
            <a:endParaRPr/>
          </a:p>
        </p:txBody>
      </p:sp>
      <p:sp>
        <p:nvSpPr>
          <p:cNvPr id="1076" name="Google Shape;1076;p19"/>
          <p:cNvSpPr txBox="1"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19 / 19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2026-05-19T18:59:08Z</dcterms:created>
  <dc:creator>Aegis-Gate</dc:creator>
</cp:coreProperties>
</file>